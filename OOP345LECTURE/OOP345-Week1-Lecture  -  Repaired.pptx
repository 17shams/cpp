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063"/>
    <p:restoredTop sz="94610"/>
  </p:normalViewPr>
  <p:slideViewPr>
    <p:cSldViewPr snapToGrid="0" snapToObjects="1">
      <p:cViewPr varScale="1">
        <p:scale>
          <a:sx n="46" d="100"/>
          <a:sy n="46" d="100"/>
        </p:scale>
        <p:origin x="168" y="1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234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NECA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46520"/>
            <a:ext cx="12188952" cy="411480"/>
          </a:xfrm>
          <a:prstGeom prst="rect">
            <a:avLst/>
          </a:prstGeom>
          <a:solidFill>
            <a:srgbClr val="C00000"/>
          </a:solidFill>
          <a:ln/>
        </p:spPr>
        <p:txBody>
          <a:bodyPr/>
          <a:lstStyle/>
          <a:p>
            <a:endParaRPr lang="en-US"/>
          </a:p>
        </p:txBody>
      </p:sp>
      <p:sp>
        <p:nvSpPr>
          <p:cNvPr id="3" name="Text 1"/>
          <p:cNvSpPr/>
          <p:nvPr/>
        </p:nvSpPr>
        <p:spPr>
          <a:xfrm>
            <a:off x="274320" y="6446520"/>
            <a:ext cx="182880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Seneca</a:t>
            </a:r>
            <a:endParaRPr lang="en-US" sz="1400" dirty="0"/>
          </a:p>
        </p:txBody>
      </p:sp>
      <p:sp>
        <p:nvSpPr>
          <p:cNvPr id="4" name="Text 2"/>
          <p:cNvSpPr/>
          <p:nvPr/>
        </p:nvSpPr>
        <p:spPr>
          <a:xfrm>
            <a:off x="2103120" y="6446520"/>
            <a:ext cx="7772400" cy="4114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OOP345  ·  Object-Oriented Software Development Using C++</a:t>
            </a:r>
            <a:endParaRPr lang="en-US" sz="10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1828800"/>
            <a:ext cx="10698480" cy="822960"/>
          </a:xfrm>
          <a:prstGeom prst="rect">
            <a:avLst/>
          </a:prstGeom>
          <a:noFill/>
          <a:ln/>
        </p:spPr>
        <p:txBody>
          <a:bodyPr wrap="square" rtlCol="0" anchor="ctr"/>
          <a:lstStyle/>
          <a:p>
            <a:pPr marL="0" indent="0" algn="ctr">
              <a:buNone/>
            </a:pPr>
            <a:r>
              <a:rPr lang="en-US" sz="3600" b="1" dirty="0">
                <a:solidFill>
                  <a:srgbClr val="002060"/>
                </a:solidFill>
                <a:latin typeface="Calibri" pitchFamily="34" charset="0"/>
                <a:ea typeface="Calibri" pitchFamily="34" charset="-122"/>
                <a:cs typeface="Calibri" pitchFamily="34" charset="-120"/>
              </a:rPr>
              <a:t>OOP345  ·  Week 1</a:t>
            </a:r>
            <a:endParaRPr lang="en-US" sz="3600" dirty="0"/>
          </a:p>
        </p:txBody>
      </p:sp>
      <p:sp>
        <p:nvSpPr>
          <p:cNvPr id="3" name="Text 1"/>
          <p:cNvSpPr/>
          <p:nvPr/>
        </p:nvSpPr>
        <p:spPr>
          <a:xfrm>
            <a:off x="731520" y="2606040"/>
            <a:ext cx="10698480" cy="1554480"/>
          </a:xfrm>
          <a:prstGeom prst="rect">
            <a:avLst/>
          </a:prstGeom>
          <a:noFill/>
          <a:ln/>
        </p:spPr>
        <p:txBody>
          <a:bodyPr wrap="square" rtlCol="0" anchor="t"/>
          <a:lstStyle/>
          <a:p>
            <a:pPr marL="0" indent="0" algn="ctr">
              <a:buNone/>
            </a:pPr>
            <a:r>
              <a:rPr lang="en-US" sz="3600" b="1" dirty="0">
                <a:solidFill>
                  <a:srgbClr val="002060"/>
                </a:solidFill>
                <a:latin typeface="Calibri" pitchFamily="34" charset="0"/>
                <a:ea typeface="Calibri" pitchFamily="34" charset="-122"/>
                <a:cs typeface="Calibri" pitchFamily="34" charset="-120"/>
              </a:rPr>
              <a:t>Welcome to Object-Oriented Software Development with C++</a:t>
            </a:r>
            <a:endParaRPr lang="en-US" sz="3600" dirty="0"/>
          </a:p>
        </p:txBody>
      </p:sp>
      <p:sp>
        <p:nvSpPr>
          <p:cNvPr id="4" name="Shape 2"/>
          <p:cNvSpPr/>
          <p:nvPr/>
        </p:nvSpPr>
        <p:spPr>
          <a:xfrm>
            <a:off x="3200400" y="4297680"/>
            <a:ext cx="5788152" cy="0"/>
          </a:xfrm>
          <a:prstGeom prst="line">
            <a:avLst/>
          </a:prstGeom>
          <a:noFill/>
          <a:ln w="31750">
            <a:solidFill>
              <a:srgbClr val="C00000"/>
            </a:solidFill>
            <a:prstDash val="solid"/>
          </a:ln>
        </p:spPr>
        <p:txBody>
          <a:bodyPr/>
          <a:lstStyle/>
          <a:p>
            <a:endParaRPr lang="en-US"/>
          </a:p>
        </p:txBody>
      </p:sp>
      <p:sp>
        <p:nvSpPr>
          <p:cNvPr id="5" name="Text 3"/>
          <p:cNvSpPr/>
          <p:nvPr/>
        </p:nvSpPr>
        <p:spPr>
          <a:xfrm>
            <a:off x="731520" y="4434840"/>
            <a:ext cx="10698480" cy="548640"/>
          </a:xfrm>
          <a:prstGeom prst="rect">
            <a:avLst/>
          </a:prstGeom>
          <a:noFill/>
          <a:ln/>
        </p:spPr>
        <p:txBody>
          <a:bodyPr wrap="square" rtlCol="0" anchor="ctr"/>
          <a:lstStyle/>
          <a:p>
            <a:pPr marL="0" indent="0" algn="ctr">
              <a:buNone/>
            </a:pPr>
            <a:r>
              <a:rPr lang="en-US" sz="1800" i="1" dirty="0">
                <a:solidFill>
                  <a:srgbClr val="595959"/>
                </a:solidFill>
                <a:latin typeface="Calibri" pitchFamily="34" charset="0"/>
                <a:ea typeface="Calibri" pitchFamily="34" charset="-122"/>
                <a:cs typeface="Calibri" pitchFamily="34" charset="-120"/>
              </a:rPr>
              <a:t>Course Introduction · C++ Building Blocks · Types · Pointers · References &amp; Arrays</a:t>
            </a:r>
            <a:endParaRPr lang="en-US" sz="1800" dirty="0"/>
          </a:p>
        </p:txBody>
      </p:sp>
      <p:sp>
        <p:nvSpPr>
          <p:cNvPr id="6" name="Text 4"/>
          <p:cNvSpPr/>
          <p:nvPr/>
        </p:nvSpPr>
        <p:spPr>
          <a:xfrm>
            <a:off x="731520" y="5029200"/>
            <a:ext cx="10698480" cy="365760"/>
          </a:xfrm>
          <a:prstGeom prst="rect">
            <a:avLst/>
          </a:prstGeom>
          <a:noFill/>
          <a:ln/>
        </p:spPr>
        <p:txBody>
          <a:bodyPr wrap="square"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Seneca Polytechnic  ·  School of Software Design &amp; Data Science  ·  Summer 2026</a:t>
            </a:r>
            <a:endParaRPr lang="en-US" sz="12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Welcome — and a quick personal note</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640080" y="1280160"/>
            <a:ext cx="6400800" cy="4937760"/>
          </a:xfrm>
          <a:prstGeom prst="rect">
            <a:avLst/>
          </a:prstGeom>
          <a:noFill/>
          <a:ln/>
        </p:spPr>
        <p:txBody>
          <a:bodyPr wrap="square" rtlCol="0" anchor="t"/>
          <a:lstStyle/>
          <a:p>
            <a:pPr marL="0" indent="0">
              <a:spcAft>
                <a:spcPts val="1000"/>
              </a:spcAft>
              <a:buNone/>
            </a:pPr>
            <a:r>
              <a:rPr lang="en-US" sz="2200" b="1" dirty="0">
                <a:solidFill>
                  <a:srgbClr val="002060"/>
                </a:solidFill>
                <a:latin typeface="Calibri" pitchFamily="34" charset="0"/>
                <a:ea typeface="Calibri" pitchFamily="34" charset="-122"/>
                <a:cs typeface="Calibri" pitchFamily="34" charset="-120"/>
              </a:rPr>
              <a:t>I'm Adeel Javed.</a:t>
            </a:r>
            <a:r>
              <a:rPr lang="en-US" sz="1800" dirty="0">
                <a:solidFill>
                  <a:srgbClr val="404040"/>
                </a:solidFill>
                <a:latin typeface="Calibri" pitchFamily="34" charset="0"/>
                <a:ea typeface="Calibri" pitchFamily="34" charset="-122"/>
                <a:cs typeface="Calibri" pitchFamily="34" charset="-120"/>
              </a:rPr>
              <a:t>I've been writing software for over a decade — most of it in C++ for systems that absolutely cannot crash, slow down, or leak memory.</a:t>
            </a:r>
            <a:r>
              <a:rPr lang="en-US" sz="2200" b="1" dirty="0">
                <a:solidFill>
                  <a:srgbClr val="C00000"/>
                </a:solidFill>
                <a:latin typeface="Calibri" pitchFamily="34" charset="0"/>
                <a:ea typeface="Calibri" pitchFamily="34" charset="-122"/>
                <a:cs typeface="Calibri" pitchFamily="34" charset="-120"/>
              </a:rPr>
              <a:t>This course is the bridge.</a:t>
            </a:r>
            <a:r>
              <a:rPr lang="en-US" sz="1600" dirty="0">
                <a:solidFill>
                  <a:srgbClr val="404040"/>
                </a:solidFill>
                <a:latin typeface="Calibri" pitchFamily="34" charset="0"/>
                <a:ea typeface="Calibri" pitchFamily="34" charset="-122"/>
                <a:cs typeface="Calibri" pitchFamily="34" charset="-120"/>
              </a:rPr>
              <a:t>You already know how to write a class. By August, you will be writing programs that run on multiple threads, manage memory by hand, model deep inheritance hierarchies, and persist state to disk. The same skills behind game engines, financial trading systems, embedded devices, and operating systems.</a:t>
            </a:r>
            <a:endParaRPr lang="en-US" sz="2200" dirty="0"/>
          </a:p>
        </p:txBody>
      </p:sp>
      <p:sp>
        <p:nvSpPr>
          <p:cNvPr id="5" name="Shape 3"/>
          <p:cNvSpPr/>
          <p:nvPr/>
        </p:nvSpPr>
        <p:spPr>
          <a:xfrm>
            <a:off x="7315200" y="1371600"/>
            <a:ext cx="4389120" cy="2743200"/>
          </a:xfrm>
          <a:prstGeom prst="rect">
            <a:avLst/>
          </a:prstGeom>
          <a:solidFill>
            <a:srgbClr val="FBE9D8"/>
          </a:solidFill>
          <a:ln w="12700">
            <a:solidFill>
              <a:srgbClr val="C99B2D"/>
            </a:solidFill>
            <a:prstDash val="solid"/>
          </a:ln>
        </p:spPr>
        <p:txBody>
          <a:bodyPr/>
          <a:lstStyle/>
          <a:p>
            <a:endParaRPr lang="en-US"/>
          </a:p>
        </p:txBody>
      </p:sp>
      <p:sp>
        <p:nvSpPr>
          <p:cNvPr id="6" name="Text 4"/>
          <p:cNvSpPr/>
          <p:nvPr/>
        </p:nvSpPr>
        <p:spPr>
          <a:xfrm>
            <a:off x="7498080" y="1463040"/>
            <a:ext cx="4023360" cy="274320"/>
          </a:xfrm>
          <a:prstGeom prst="rect">
            <a:avLst/>
          </a:prstGeom>
          <a:noFill/>
          <a:ln/>
        </p:spPr>
        <p:txBody>
          <a:bodyPr wrap="square" rtlCol="0" anchor="ctr"/>
          <a:lstStyle/>
          <a:p>
            <a:pPr marL="0" indent="0">
              <a:buNone/>
            </a:pPr>
            <a:r>
              <a:rPr lang="en-US" sz="1100" b="1" kern="0" spc="300" dirty="0">
                <a:solidFill>
                  <a:srgbClr val="C99B2D"/>
                </a:solidFill>
                <a:latin typeface="Calibri" pitchFamily="34" charset="0"/>
                <a:ea typeface="Calibri" pitchFamily="34" charset="-122"/>
                <a:cs typeface="Calibri" pitchFamily="34" charset="-120"/>
              </a:rPr>
              <a:t>REAL-WORLD ANALOGY</a:t>
            </a:r>
            <a:endParaRPr lang="en-US" sz="1100" dirty="0"/>
          </a:p>
        </p:txBody>
      </p:sp>
      <p:sp>
        <p:nvSpPr>
          <p:cNvPr id="7" name="Text 5"/>
          <p:cNvSpPr/>
          <p:nvPr/>
        </p:nvSpPr>
        <p:spPr>
          <a:xfrm>
            <a:off x="7498080" y="1783080"/>
            <a:ext cx="4023360" cy="365760"/>
          </a:xfrm>
          <a:prstGeom prst="rect">
            <a:avLst/>
          </a:prstGeom>
          <a:noFill/>
          <a:ln/>
        </p:spPr>
        <p:txBody>
          <a:bodyPr wrap="square" rtlCol="0" anchor="ctr"/>
          <a:lstStyle/>
          <a:p>
            <a:pPr marL="0" indent="0">
              <a:buNone/>
            </a:pPr>
            <a:r>
              <a:rPr lang="en-US" sz="1600" b="1" dirty="0">
                <a:solidFill>
                  <a:srgbClr val="6B4D1B"/>
                </a:solidFill>
                <a:latin typeface="Calibri" pitchFamily="34" charset="0"/>
                <a:ea typeface="Calibri" pitchFamily="34" charset="-122"/>
                <a:cs typeface="Calibri" pitchFamily="34" charset="-120"/>
              </a:rPr>
              <a:t>Learning to drive vs. owning the car</a:t>
            </a:r>
            <a:endParaRPr lang="en-US" sz="1600" dirty="0"/>
          </a:p>
        </p:txBody>
      </p:sp>
      <p:sp>
        <p:nvSpPr>
          <p:cNvPr id="8" name="Text 6"/>
          <p:cNvSpPr/>
          <p:nvPr/>
        </p:nvSpPr>
        <p:spPr>
          <a:xfrm>
            <a:off x="7498080" y="2148840"/>
            <a:ext cx="4023360" cy="1874520"/>
          </a:xfrm>
          <a:prstGeom prst="rect">
            <a:avLst/>
          </a:prstGeom>
          <a:noFill/>
          <a:ln/>
        </p:spPr>
        <p:txBody>
          <a:bodyPr wrap="square" rtlCol="0" anchor="t"/>
          <a:lstStyle/>
          <a:p>
            <a:pPr marL="0" indent="0">
              <a:buNone/>
            </a:pPr>
            <a:r>
              <a:rPr lang="en-US" sz="1300" dirty="0">
                <a:solidFill>
                  <a:srgbClr val="404040"/>
                </a:solidFill>
                <a:latin typeface="Calibri" pitchFamily="34" charset="0"/>
                <a:ea typeface="Calibri" pitchFamily="34" charset="-122"/>
                <a:cs typeface="Calibri" pitchFamily="34" charset="-120"/>
              </a:rPr>
              <a:t>OOP244 taught you to drive. OOP345 teaches you what's under the hood — pointers, memory, threads — so you can fix it, tune it, and build your own.</a:t>
            </a:r>
            <a:endParaRPr lang="en-US" sz="13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The arc of OOP345 — three big questions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280160"/>
            <a:ext cx="164592" cy="1463040"/>
          </a:xfrm>
          <a:prstGeom prst="rect">
            <a:avLst/>
          </a:prstGeom>
          <a:solidFill>
            <a:srgbClr val="C00000"/>
          </a:solidFill>
          <a:ln/>
        </p:spPr>
        <p:txBody>
          <a:bodyPr/>
          <a:lstStyle/>
          <a:p>
            <a:endParaRPr lang="en-US"/>
          </a:p>
        </p:txBody>
      </p:sp>
      <p:sp>
        <p:nvSpPr>
          <p:cNvPr id="5" name="Text 3"/>
          <p:cNvSpPr/>
          <p:nvPr/>
        </p:nvSpPr>
        <p:spPr>
          <a:xfrm>
            <a:off x="777240" y="1280160"/>
            <a:ext cx="10972800" cy="292608"/>
          </a:xfrm>
          <a:prstGeom prst="rect">
            <a:avLst/>
          </a:prstGeom>
          <a:noFill/>
          <a:ln/>
        </p:spPr>
        <p:txBody>
          <a:bodyPr wrap="square" rtlCol="0" anchor="ctr"/>
          <a:lstStyle/>
          <a:p>
            <a:pPr marL="0" indent="0">
              <a:buNone/>
            </a:pPr>
            <a:r>
              <a:rPr lang="en-US" sz="1200" b="1" kern="0" spc="300" dirty="0">
                <a:solidFill>
                  <a:srgbClr val="C00000"/>
                </a:solidFill>
                <a:latin typeface="Calibri" pitchFamily="34" charset="0"/>
                <a:ea typeface="Calibri" pitchFamily="34" charset="-122"/>
                <a:cs typeface="Calibri" pitchFamily="34" charset="-120"/>
              </a:rPr>
              <a:t>Question 1</a:t>
            </a:r>
            <a:endParaRPr lang="en-US" sz="1200" dirty="0"/>
          </a:p>
        </p:txBody>
      </p:sp>
      <p:sp>
        <p:nvSpPr>
          <p:cNvPr id="6" name="Text 4"/>
          <p:cNvSpPr/>
          <p:nvPr/>
        </p:nvSpPr>
        <p:spPr>
          <a:xfrm>
            <a:off x="777240" y="1554480"/>
            <a:ext cx="10972800" cy="411480"/>
          </a:xfrm>
          <a:prstGeom prst="rect">
            <a:avLst/>
          </a:prstGeom>
          <a:noFill/>
          <a:ln/>
        </p:spPr>
        <p:txBody>
          <a:bodyPr wrap="square" rtlCol="0" anchor="ctr"/>
          <a:lstStyle/>
          <a:p>
            <a:pPr marL="0" indent="0">
              <a:buNone/>
            </a:pPr>
            <a:r>
              <a:rPr lang="en-US" sz="2000" b="1" dirty="0">
                <a:solidFill>
                  <a:srgbClr val="002060"/>
                </a:solidFill>
                <a:latin typeface="Calibri" pitchFamily="34" charset="0"/>
                <a:ea typeface="Calibri" pitchFamily="34" charset="-122"/>
                <a:cs typeface="Calibri" pitchFamily="34" charset="-120"/>
              </a:rPr>
              <a:t>How do I model the world inside a program?</a:t>
            </a:r>
            <a:endParaRPr lang="en-US" sz="2000" dirty="0"/>
          </a:p>
        </p:txBody>
      </p:sp>
      <p:sp>
        <p:nvSpPr>
          <p:cNvPr id="7" name="Text 5"/>
          <p:cNvSpPr/>
          <p:nvPr/>
        </p:nvSpPr>
        <p:spPr>
          <a:xfrm>
            <a:off x="777240" y="2011680"/>
            <a:ext cx="10972800" cy="82296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Weeks 1–5: types, classes, inheritance, polymorphism. We teach the C++ way to describe entities — books, accounts, sensors, threads.</a:t>
            </a:r>
            <a:endParaRPr lang="en-US" sz="1400" dirty="0"/>
          </a:p>
        </p:txBody>
      </p:sp>
      <p:sp>
        <p:nvSpPr>
          <p:cNvPr id="8" name="Shape 6"/>
          <p:cNvSpPr/>
          <p:nvPr/>
        </p:nvSpPr>
        <p:spPr>
          <a:xfrm>
            <a:off x="457200" y="2880360"/>
            <a:ext cx="164592" cy="1463040"/>
          </a:xfrm>
          <a:prstGeom prst="rect">
            <a:avLst/>
          </a:prstGeom>
          <a:solidFill>
            <a:srgbClr val="002060"/>
          </a:solidFill>
          <a:ln/>
        </p:spPr>
        <p:txBody>
          <a:bodyPr/>
          <a:lstStyle/>
          <a:p>
            <a:endParaRPr lang="en-US"/>
          </a:p>
        </p:txBody>
      </p:sp>
      <p:sp>
        <p:nvSpPr>
          <p:cNvPr id="9" name="Text 7"/>
          <p:cNvSpPr/>
          <p:nvPr/>
        </p:nvSpPr>
        <p:spPr>
          <a:xfrm>
            <a:off x="777240" y="2880360"/>
            <a:ext cx="10972800" cy="292608"/>
          </a:xfrm>
          <a:prstGeom prst="rect">
            <a:avLst/>
          </a:prstGeom>
          <a:noFill/>
          <a:ln/>
        </p:spPr>
        <p:txBody>
          <a:bodyPr wrap="square" rtlCol="0" anchor="ctr"/>
          <a:lstStyle/>
          <a:p>
            <a:pPr marL="0" indent="0">
              <a:buNone/>
            </a:pPr>
            <a:r>
              <a:rPr lang="en-US" sz="1200" b="1" kern="0" spc="300" dirty="0">
                <a:solidFill>
                  <a:srgbClr val="002060"/>
                </a:solidFill>
                <a:latin typeface="Calibri" pitchFamily="34" charset="0"/>
                <a:ea typeface="Calibri" pitchFamily="34" charset="-122"/>
                <a:cs typeface="Calibri" pitchFamily="34" charset="-120"/>
              </a:rPr>
              <a:t>Question 2</a:t>
            </a:r>
            <a:endParaRPr lang="en-US" sz="1200" dirty="0"/>
          </a:p>
        </p:txBody>
      </p:sp>
      <p:sp>
        <p:nvSpPr>
          <p:cNvPr id="10" name="Text 8"/>
          <p:cNvSpPr/>
          <p:nvPr/>
        </p:nvSpPr>
        <p:spPr>
          <a:xfrm>
            <a:off x="777240" y="3154680"/>
            <a:ext cx="10972800" cy="411480"/>
          </a:xfrm>
          <a:prstGeom prst="rect">
            <a:avLst/>
          </a:prstGeom>
          <a:noFill/>
          <a:ln/>
        </p:spPr>
        <p:txBody>
          <a:bodyPr wrap="square" rtlCol="0" anchor="ctr"/>
          <a:lstStyle/>
          <a:p>
            <a:pPr marL="0" indent="0">
              <a:buNone/>
            </a:pPr>
            <a:r>
              <a:rPr lang="en-US" sz="2000" b="1" dirty="0">
                <a:solidFill>
                  <a:srgbClr val="002060"/>
                </a:solidFill>
                <a:latin typeface="Calibri" pitchFamily="34" charset="0"/>
                <a:ea typeface="Calibri" pitchFamily="34" charset="-122"/>
                <a:cs typeface="Calibri" pitchFamily="34" charset="-120"/>
              </a:rPr>
              <a:t>How do I manage memory I own?</a:t>
            </a:r>
            <a:endParaRPr lang="en-US" sz="2000" dirty="0"/>
          </a:p>
        </p:txBody>
      </p:sp>
      <p:sp>
        <p:nvSpPr>
          <p:cNvPr id="11" name="Text 9"/>
          <p:cNvSpPr/>
          <p:nvPr/>
        </p:nvSpPr>
        <p:spPr>
          <a:xfrm>
            <a:off x="777240" y="3611880"/>
            <a:ext cx="10972800" cy="82296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Weeks 6–9: smart pointers, exceptions, raw pointers, linked lists, trees, recursion. We get into the heap and out alive.</a:t>
            </a:r>
            <a:endParaRPr lang="en-US" sz="1400" dirty="0"/>
          </a:p>
        </p:txBody>
      </p:sp>
      <p:sp>
        <p:nvSpPr>
          <p:cNvPr id="12" name="Shape 10"/>
          <p:cNvSpPr/>
          <p:nvPr/>
        </p:nvSpPr>
        <p:spPr>
          <a:xfrm>
            <a:off x="457200" y="4480560"/>
            <a:ext cx="164592" cy="1463040"/>
          </a:xfrm>
          <a:prstGeom prst="rect">
            <a:avLst/>
          </a:prstGeom>
          <a:solidFill>
            <a:srgbClr val="C99B2D"/>
          </a:solidFill>
          <a:ln/>
        </p:spPr>
        <p:txBody>
          <a:bodyPr/>
          <a:lstStyle/>
          <a:p>
            <a:endParaRPr lang="en-US"/>
          </a:p>
        </p:txBody>
      </p:sp>
      <p:sp>
        <p:nvSpPr>
          <p:cNvPr id="13" name="Text 11"/>
          <p:cNvSpPr/>
          <p:nvPr/>
        </p:nvSpPr>
        <p:spPr>
          <a:xfrm>
            <a:off x="777240" y="4480560"/>
            <a:ext cx="10972800" cy="292608"/>
          </a:xfrm>
          <a:prstGeom prst="rect">
            <a:avLst/>
          </a:prstGeom>
          <a:noFill/>
          <a:ln/>
        </p:spPr>
        <p:txBody>
          <a:bodyPr wrap="square" rtlCol="0" anchor="ctr"/>
          <a:lstStyle/>
          <a:p>
            <a:pPr marL="0" indent="0">
              <a:buNone/>
            </a:pPr>
            <a:r>
              <a:rPr lang="en-US" sz="1200" b="1" kern="0" spc="300" dirty="0">
                <a:solidFill>
                  <a:srgbClr val="C99B2D"/>
                </a:solidFill>
                <a:latin typeface="Calibri" pitchFamily="34" charset="0"/>
                <a:ea typeface="Calibri" pitchFamily="34" charset="-122"/>
                <a:cs typeface="Calibri" pitchFamily="34" charset="-120"/>
              </a:rPr>
              <a:t>Question 3</a:t>
            </a:r>
            <a:endParaRPr lang="en-US" sz="1200" dirty="0"/>
          </a:p>
        </p:txBody>
      </p:sp>
      <p:sp>
        <p:nvSpPr>
          <p:cNvPr id="14" name="Text 12"/>
          <p:cNvSpPr/>
          <p:nvPr/>
        </p:nvSpPr>
        <p:spPr>
          <a:xfrm>
            <a:off x="777240" y="4754880"/>
            <a:ext cx="10972800" cy="411480"/>
          </a:xfrm>
          <a:prstGeom prst="rect">
            <a:avLst/>
          </a:prstGeom>
          <a:noFill/>
          <a:ln/>
        </p:spPr>
        <p:txBody>
          <a:bodyPr wrap="square" rtlCol="0" anchor="ctr"/>
          <a:lstStyle/>
          <a:p>
            <a:pPr marL="0" indent="0">
              <a:buNone/>
            </a:pPr>
            <a:r>
              <a:rPr lang="en-US" sz="2000" b="1" dirty="0">
                <a:solidFill>
                  <a:srgbClr val="002060"/>
                </a:solidFill>
                <a:latin typeface="Calibri" pitchFamily="34" charset="0"/>
                <a:ea typeface="Calibri" pitchFamily="34" charset="-122"/>
                <a:cs typeface="Calibri" pitchFamily="34" charset="-120"/>
              </a:rPr>
              <a:t>How do I make it fast and durable?</a:t>
            </a:r>
            <a:endParaRPr lang="en-US" sz="2000" dirty="0"/>
          </a:p>
        </p:txBody>
      </p:sp>
      <p:sp>
        <p:nvSpPr>
          <p:cNvPr id="15" name="Text 13"/>
          <p:cNvSpPr/>
          <p:nvPr/>
        </p:nvSpPr>
        <p:spPr>
          <a:xfrm>
            <a:off x="777240" y="5212080"/>
            <a:ext cx="10972800" cy="82296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Weeks 11–12: multi-threaded execution, mutexes, atomics, plus file streams for text and binary persistence. The professional layer.</a:t>
            </a:r>
            <a:endParaRPr lang="en-US" sz="14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OOP345 at a glance</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Summer 2026 (2264) · 14 weeks · Wednesdays 6:30 PM – 10:30 PM Online · Section V1A · Class Nbr 1264</a:t>
            </a:r>
            <a:endParaRPr lang="en-US" sz="1400" dirty="0"/>
          </a:p>
        </p:txBody>
      </p:sp>
      <p:sp>
        <p:nvSpPr>
          <p:cNvPr id="5" name="Text 3"/>
          <p:cNvSpPr/>
          <p:nvPr/>
        </p:nvSpPr>
        <p:spPr>
          <a:xfrm>
            <a:off x="457200" y="1737360"/>
            <a:ext cx="3657600" cy="1280160"/>
          </a:xfrm>
          <a:prstGeom prst="rect">
            <a:avLst/>
          </a:prstGeom>
          <a:noFill/>
          <a:ln/>
        </p:spPr>
        <p:txBody>
          <a:bodyPr wrap="square" rtlCol="0" anchor="ctr"/>
          <a:lstStyle/>
          <a:p>
            <a:pPr marL="0" indent="0" algn="ctr">
              <a:buNone/>
            </a:pPr>
            <a:r>
              <a:rPr lang="en-US" sz="6000" b="1" dirty="0">
                <a:solidFill>
                  <a:srgbClr val="C00000"/>
                </a:solidFill>
                <a:latin typeface="Calibri" pitchFamily="34" charset="0"/>
                <a:ea typeface="Calibri" pitchFamily="34" charset="-122"/>
                <a:cs typeface="Calibri" pitchFamily="34" charset="-120"/>
              </a:rPr>
              <a:t>14</a:t>
            </a:r>
            <a:endParaRPr lang="en-US" sz="6000" dirty="0"/>
          </a:p>
        </p:txBody>
      </p:sp>
      <p:sp>
        <p:nvSpPr>
          <p:cNvPr id="6" name="Text 4"/>
          <p:cNvSpPr/>
          <p:nvPr/>
        </p:nvSpPr>
        <p:spPr>
          <a:xfrm>
            <a:off x="457200" y="3017520"/>
            <a:ext cx="3657600" cy="365760"/>
          </a:xfrm>
          <a:prstGeom prst="rect">
            <a:avLst/>
          </a:prstGeom>
          <a:noFill/>
          <a:ln/>
        </p:spPr>
        <p:txBody>
          <a:bodyPr wrap="square" rtlCol="0" anchor="ctr"/>
          <a:lstStyle/>
          <a:p>
            <a:pPr marL="0" indent="0" algn="ctr">
              <a:buNone/>
            </a:pPr>
            <a:r>
              <a:rPr lang="en-US" sz="1200" b="1" kern="0" spc="300" dirty="0">
                <a:solidFill>
                  <a:srgbClr val="002060"/>
                </a:solidFill>
                <a:latin typeface="Calibri" pitchFamily="34" charset="0"/>
                <a:ea typeface="Calibri" pitchFamily="34" charset="-122"/>
                <a:cs typeface="Calibri" pitchFamily="34" charset="-120"/>
              </a:rPr>
              <a:t>WEEKS</a:t>
            </a:r>
            <a:endParaRPr lang="en-US" sz="1200" dirty="0"/>
          </a:p>
        </p:txBody>
      </p:sp>
      <p:sp>
        <p:nvSpPr>
          <p:cNvPr id="7" name="Text 5"/>
          <p:cNvSpPr/>
          <p:nvPr/>
        </p:nvSpPr>
        <p:spPr>
          <a:xfrm>
            <a:off x="640080" y="3429000"/>
            <a:ext cx="3291840" cy="2377440"/>
          </a:xfrm>
          <a:prstGeom prst="rect">
            <a:avLst/>
          </a:prstGeom>
          <a:noFill/>
          <a:ln/>
        </p:spPr>
        <p:txBody>
          <a:bodyPr wrap="square" rtlCol="0" anchor="t"/>
          <a:lstStyle/>
          <a:p>
            <a:pPr marL="0" indent="0" algn="ctr">
              <a:buNone/>
            </a:pPr>
            <a:r>
              <a:rPr lang="en-US" sz="1400" dirty="0">
                <a:solidFill>
                  <a:srgbClr val="404040"/>
                </a:solidFill>
                <a:latin typeface="Calibri" pitchFamily="34" charset="0"/>
                <a:ea typeface="Calibri" pitchFamily="34" charset="-122"/>
                <a:cs typeface="Calibri" pitchFamily="34" charset="-120"/>
              </a:rPr>
              <a:t>10 content weeks · Test 1 (W7) · Test 2 (W10) · Revision (W13) · Final (W14)</a:t>
            </a:r>
            <a:endParaRPr lang="en-US" sz="1400" dirty="0"/>
          </a:p>
        </p:txBody>
      </p:sp>
      <p:sp>
        <p:nvSpPr>
          <p:cNvPr id="8" name="Text 6"/>
          <p:cNvSpPr/>
          <p:nvPr/>
        </p:nvSpPr>
        <p:spPr>
          <a:xfrm>
            <a:off x="4297680" y="1737360"/>
            <a:ext cx="3657600" cy="1280160"/>
          </a:xfrm>
          <a:prstGeom prst="rect">
            <a:avLst/>
          </a:prstGeom>
          <a:noFill/>
          <a:ln/>
        </p:spPr>
        <p:txBody>
          <a:bodyPr wrap="square" rtlCol="0" anchor="ctr"/>
          <a:lstStyle/>
          <a:p>
            <a:pPr marL="0" indent="0" algn="ctr">
              <a:buNone/>
            </a:pPr>
            <a:r>
              <a:rPr lang="en-US" sz="6000" b="1" dirty="0">
                <a:solidFill>
                  <a:srgbClr val="C00000"/>
                </a:solidFill>
                <a:latin typeface="Calibri" pitchFamily="34" charset="0"/>
                <a:ea typeface="Calibri" pitchFamily="34" charset="-122"/>
                <a:cs typeface="Calibri" pitchFamily="34" charset="-120"/>
              </a:rPr>
              <a:t>4</a:t>
            </a:r>
            <a:endParaRPr lang="en-US" sz="6000" dirty="0"/>
          </a:p>
        </p:txBody>
      </p:sp>
      <p:sp>
        <p:nvSpPr>
          <p:cNvPr id="9" name="Text 7"/>
          <p:cNvSpPr/>
          <p:nvPr/>
        </p:nvSpPr>
        <p:spPr>
          <a:xfrm>
            <a:off x="4297680" y="3017520"/>
            <a:ext cx="3657600" cy="365760"/>
          </a:xfrm>
          <a:prstGeom prst="rect">
            <a:avLst/>
          </a:prstGeom>
          <a:noFill/>
          <a:ln/>
        </p:spPr>
        <p:txBody>
          <a:bodyPr wrap="square" rtlCol="0" anchor="ctr"/>
          <a:lstStyle/>
          <a:p>
            <a:pPr marL="0" indent="0" algn="ctr">
              <a:buNone/>
            </a:pPr>
            <a:r>
              <a:rPr lang="en-US" sz="1200" b="1" kern="0" spc="300" dirty="0">
                <a:solidFill>
                  <a:srgbClr val="002060"/>
                </a:solidFill>
                <a:latin typeface="Calibri" pitchFamily="34" charset="0"/>
                <a:ea typeface="Calibri" pitchFamily="34" charset="-122"/>
                <a:cs typeface="Calibri" pitchFamily="34" charset="-120"/>
              </a:rPr>
              <a:t>ASSIGNMENTS</a:t>
            </a:r>
            <a:endParaRPr lang="en-US" sz="1200" dirty="0"/>
          </a:p>
        </p:txBody>
      </p:sp>
      <p:sp>
        <p:nvSpPr>
          <p:cNvPr id="10" name="Text 8"/>
          <p:cNvSpPr/>
          <p:nvPr/>
        </p:nvSpPr>
        <p:spPr>
          <a:xfrm>
            <a:off x="4480560" y="3429000"/>
            <a:ext cx="3291840" cy="2377440"/>
          </a:xfrm>
          <a:prstGeom prst="rect">
            <a:avLst/>
          </a:prstGeom>
          <a:noFill/>
          <a:ln/>
        </p:spPr>
        <p:txBody>
          <a:bodyPr wrap="square" rtlCol="0" anchor="t"/>
          <a:lstStyle/>
          <a:p>
            <a:pPr marL="0" indent="0" algn="ctr">
              <a:buNone/>
            </a:pPr>
            <a:r>
              <a:rPr lang="en-US" sz="1400" dirty="0">
                <a:solidFill>
                  <a:srgbClr val="404040"/>
                </a:solidFill>
                <a:latin typeface="Calibri" pitchFamily="34" charset="0"/>
                <a:ea typeface="Calibri" pitchFamily="34" charset="-122"/>
                <a:cs typeface="Calibri" pitchFamily="34" charset="-120"/>
              </a:rPr>
              <a:t>Each builds on the last — by Week 13 they form one complete project plus a recorded presentation</a:t>
            </a:r>
            <a:endParaRPr lang="en-US" sz="1400" dirty="0"/>
          </a:p>
        </p:txBody>
      </p:sp>
      <p:sp>
        <p:nvSpPr>
          <p:cNvPr id="11" name="Text 9"/>
          <p:cNvSpPr/>
          <p:nvPr/>
        </p:nvSpPr>
        <p:spPr>
          <a:xfrm>
            <a:off x="8138160" y="1737360"/>
            <a:ext cx="3657600" cy="1280160"/>
          </a:xfrm>
          <a:prstGeom prst="rect">
            <a:avLst/>
          </a:prstGeom>
          <a:noFill/>
          <a:ln/>
        </p:spPr>
        <p:txBody>
          <a:bodyPr wrap="square" rtlCol="0" anchor="ctr"/>
          <a:lstStyle/>
          <a:p>
            <a:pPr marL="0" indent="0" algn="ctr">
              <a:buNone/>
            </a:pPr>
            <a:r>
              <a:rPr lang="en-US" sz="6000" b="1" dirty="0">
                <a:solidFill>
                  <a:srgbClr val="C00000"/>
                </a:solidFill>
                <a:latin typeface="Calibri" pitchFamily="34" charset="0"/>
                <a:ea typeface="Calibri" pitchFamily="34" charset="-122"/>
                <a:cs typeface="Calibri" pitchFamily="34" charset="-120"/>
              </a:rPr>
              <a:t>4 hr</a:t>
            </a:r>
            <a:endParaRPr lang="en-US" sz="6000" dirty="0"/>
          </a:p>
        </p:txBody>
      </p:sp>
      <p:sp>
        <p:nvSpPr>
          <p:cNvPr id="12" name="Text 10"/>
          <p:cNvSpPr/>
          <p:nvPr/>
        </p:nvSpPr>
        <p:spPr>
          <a:xfrm>
            <a:off x="8138160" y="3017520"/>
            <a:ext cx="3657600" cy="365760"/>
          </a:xfrm>
          <a:prstGeom prst="rect">
            <a:avLst/>
          </a:prstGeom>
          <a:noFill/>
          <a:ln/>
        </p:spPr>
        <p:txBody>
          <a:bodyPr wrap="square" rtlCol="0" anchor="ctr"/>
          <a:lstStyle/>
          <a:p>
            <a:pPr marL="0" indent="0" algn="ctr">
              <a:buNone/>
            </a:pPr>
            <a:r>
              <a:rPr lang="en-US" sz="1200" b="1" kern="0" spc="300" dirty="0">
                <a:solidFill>
                  <a:srgbClr val="002060"/>
                </a:solidFill>
                <a:latin typeface="Calibri" pitchFamily="34" charset="0"/>
                <a:ea typeface="Calibri" pitchFamily="34" charset="-122"/>
                <a:cs typeface="Calibri" pitchFamily="34" charset="-120"/>
              </a:rPr>
              <a:t>PER SESSION</a:t>
            </a:r>
            <a:endParaRPr lang="en-US" sz="1200" dirty="0"/>
          </a:p>
        </p:txBody>
      </p:sp>
      <p:sp>
        <p:nvSpPr>
          <p:cNvPr id="13" name="Text 11"/>
          <p:cNvSpPr/>
          <p:nvPr/>
        </p:nvSpPr>
        <p:spPr>
          <a:xfrm>
            <a:off x="8321040" y="3429000"/>
            <a:ext cx="3291840" cy="2377440"/>
          </a:xfrm>
          <a:prstGeom prst="rect">
            <a:avLst/>
          </a:prstGeom>
          <a:noFill/>
          <a:ln/>
        </p:spPr>
        <p:txBody>
          <a:bodyPr wrap="square" rtlCol="0" anchor="t"/>
          <a:lstStyle/>
          <a:p>
            <a:pPr marL="0" indent="0" algn="ctr">
              <a:buNone/>
            </a:pPr>
            <a:r>
              <a:rPr lang="en-US" sz="1400" dirty="0">
                <a:solidFill>
                  <a:srgbClr val="404040"/>
                </a:solidFill>
                <a:latin typeface="Calibri" pitchFamily="34" charset="0"/>
                <a:ea typeface="Calibri" pitchFamily="34" charset="-122"/>
                <a:cs typeface="Calibri" pitchFamily="34" charset="-120"/>
              </a:rPr>
              <a:t>~3 hr lecture &amp; live coding · ~1 hr hands-on lab in the back half</a:t>
            </a:r>
            <a:endParaRPr lang="en-US" sz="14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What you'll be able to do by August</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Official Seneca learning outcomes for OOP345</a:t>
            </a:r>
            <a:endParaRPr lang="en-US" sz="1400" dirty="0"/>
          </a:p>
        </p:txBody>
      </p:sp>
      <p:sp>
        <p:nvSpPr>
          <p:cNvPr id="5" name="Text 3"/>
          <p:cNvSpPr/>
          <p:nvPr/>
        </p:nvSpPr>
        <p:spPr>
          <a:xfrm>
            <a:off x="640080" y="1371600"/>
            <a:ext cx="10972800" cy="4846320"/>
          </a:xfrm>
          <a:prstGeom prst="rect">
            <a:avLst/>
          </a:prstGeom>
          <a:noFill/>
          <a:ln/>
        </p:spPr>
        <p:txBody>
          <a:bodyPr wrap="square" rtlCol="0" anchor="t"/>
          <a:lstStyle/>
          <a:p>
            <a:pPr>
              <a:spcAft>
                <a:spcPts val="600"/>
              </a:spcAft>
            </a:pPr>
            <a:r>
              <a:rPr lang="en-US" sz="1700" dirty="0">
                <a:solidFill>
                  <a:srgbClr val="404040"/>
                </a:solidFill>
                <a:latin typeface="Calibri" pitchFamily="34" charset="0"/>
                <a:ea typeface="Calibri" pitchFamily="34" charset="-122"/>
                <a:cs typeface="Calibri" pitchFamily="34" charset="-120"/>
              </a:rPr>
              <a:t>Design collections of model objects using sequential containers and multi-dimensional arrays.</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Create function objects and closures (lambdas) to customize behavior.</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Model generalization and specialization with inheritance hierarchies.</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Model polymorphic behavior using virtual functions and templates.</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Implement components using STL algorithms — the C++ standard "toolbox".</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Build raw-pointer-based data structures: linked lists, trees, hash tables.</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Design multi-tasked solutions using threading libraries.</a:t>
            </a:r>
            <a:endParaRPr lang="en-US" sz="1700" dirty="0"/>
          </a:p>
          <a:p>
            <a:pPr>
              <a:spcAft>
                <a:spcPts val="600"/>
              </a:spcAft>
            </a:pPr>
            <a:r>
              <a:rPr lang="en-US" sz="1700" dirty="0">
                <a:solidFill>
                  <a:srgbClr val="404040"/>
                </a:solidFill>
                <a:latin typeface="Calibri" pitchFamily="34" charset="0"/>
                <a:ea typeface="Calibri" pitchFamily="34" charset="-122"/>
                <a:cs typeface="Calibri" pitchFamily="34" charset="-120"/>
              </a:rPr>
              <a:t>Persist program data to disk using text and binary file streams.</a:t>
            </a:r>
            <a:endParaRPr lang="en-US" sz="17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How a typical Wednesday runs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554480"/>
            <a:ext cx="2743200" cy="1188720"/>
          </a:xfrm>
          <a:prstGeom prst="rect">
            <a:avLst/>
          </a:prstGeom>
          <a:solidFill>
            <a:srgbClr val="1E5C8B"/>
          </a:solidFill>
          <a:ln/>
        </p:spPr>
        <p:txBody>
          <a:bodyPr/>
          <a:lstStyle/>
          <a:p>
            <a:endParaRPr lang="en-US"/>
          </a:p>
        </p:txBody>
      </p:sp>
      <p:sp>
        <p:nvSpPr>
          <p:cNvPr id="5" name="Text 3"/>
          <p:cNvSpPr/>
          <p:nvPr/>
        </p:nvSpPr>
        <p:spPr>
          <a:xfrm>
            <a:off x="594360" y="1627632"/>
            <a:ext cx="24688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Block A · 6:30 – 8:00</a:t>
            </a:r>
            <a:endParaRPr lang="en-US" sz="1600" dirty="0"/>
          </a:p>
        </p:txBody>
      </p:sp>
      <p:sp>
        <p:nvSpPr>
          <p:cNvPr id="6" name="Text 4"/>
          <p:cNvSpPr/>
          <p:nvPr/>
        </p:nvSpPr>
        <p:spPr>
          <a:xfrm>
            <a:off x="594360" y="2103120"/>
            <a:ext cx="2468880" cy="59436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Lecture &amp; live coding (Concept #1) · 90 min</a:t>
            </a:r>
            <a:endParaRPr lang="en-US" sz="1300" dirty="0"/>
          </a:p>
        </p:txBody>
      </p:sp>
      <p:sp>
        <p:nvSpPr>
          <p:cNvPr id="7" name="Shape 5"/>
          <p:cNvSpPr/>
          <p:nvPr/>
        </p:nvSpPr>
        <p:spPr>
          <a:xfrm>
            <a:off x="3337560" y="1554480"/>
            <a:ext cx="2743200" cy="1188720"/>
          </a:xfrm>
          <a:prstGeom prst="rect">
            <a:avLst/>
          </a:prstGeom>
          <a:solidFill>
            <a:srgbClr val="1E5C8B"/>
          </a:solidFill>
          <a:ln/>
        </p:spPr>
        <p:txBody>
          <a:bodyPr/>
          <a:lstStyle/>
          <a:p>
            <a:endParaRPr lang="en-US"/>
          </a:p>
        </p:txBody>
      </p:sp>
      <p:sp>
        <p:nvSpPr>
          <p:cNvPr id="8" name="Text 6"/>
          <p:cNvSpPr/>
          <p:nvPr/>
        </p:nvSpPr>
        <p:spPr>
          <a:xfrm>
            <a:off x="3474720" y="1627632"/>
            <a:ext cx="24688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Block B · 8:10 – 9:30</a:t>
            </a:r>
            <a:endParaRPr lang="en-US" sz="1600" dirty="0"/>
          </a:p>
        </p:txBody>
      </p:sp>
      <p:sp>
        <p:nvSpPr>
          <p:cNvPr id="9" name="Text 7"/>
          <p:cNvSpPr/>
          <p:nvPr/>
        </p:nvSpPr>
        <p:spPr>
          <a:xfrm>
            <a:off x="3474720" y="2103120"/>
            <a:ext cx="2468880" cy="59436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Lecture &amp; live coding (Concept #2) · 80 min</a:t>
            </a:r>
            <a:endParaRPr lang="en-US" sz="1300" dirty="0"/>
          </a:p>
        </p:txBody>
      </p:sp>
      <p:sp>
        <p:nvSpPr>
          <p:cNvPr id="10" name="Shape 8"/>
          <p:cNvSpPr/>
          <p:nvPr/>
        </p:nvSpPr>
        <p:spPr>
          <a:xfrm>
            <a:off x="6217920" y="1554480"/>
            <a:ext cx="5486400" cy="1188720"/>
          </a:xfrm>
          <a:prstGeom prst="rect">
            <a:avLst/>
          </a:prstGeom>
          <a:solidFill>
            <a:srgbClr val="C99B2D"/>
          </a:solidFill>
          <a:ln/>
        </p:spPr>
        <p:txBody>
          <a:bodyPr/>
          <a:lstStyle/>
          <a:p>
            <a:endParaRPr lang="en-US"/>
          </a:p>
        </p:txBody>
      </p:sp>
      <p:sp>
        <p:nvSpPr>
          <p:cNvPr id="11" name="Text 9"/>
          <p:cNvSpPr/>
          <p:nvPr/>
        </p:nvSpPr>
        <p:spPr>
          <a:xfrm>
            <a:off x="6355080" y="1627632"/>
            <a:ext cx="52120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Lab · 9:30 – 10:30</a:t>
            </a:r>
            <a:endParaRPr lang="en-US" sz="1600" dirty="0"/>
          </a:p>
        </p:txBody>
      </p:sp>
      <p:sp>
        <p:nvSpPr>
          <p:cNvPr id="12" name="Text 10"/>
          <p:cNvSpPr/>
          <p:nvPr/>
        </p:nvSpPr>
        <p:spPr>
          <a:xfrm>
            <a:off x="6355080" y="2103120"/>
            <a:ext cx="5212080" cy="59436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You write code · I help · Submit by 10:30 PM</a:t>
            </a:r>
            <a:endParaRPr lang="en-US" sz="1300" dirty="0"/>
          </a:p>
        </p:txBody>
      </p:sp>
      <p:sp>
        <p:nvSpPr>
          <p:cNvPr id="13" name="Text 11"/>
          <p:cNvSpPr/>
          <p:nvPr/>
        </p:nvSpPr>
        <p:spPr>
          <a:xfrm>
            <a:off x="457200" y="3017520"/>
            <a:ext cx="11247120" cy="3017520"/>
          </a:xfrm>
          <a:prstGeom prst="rect">
            <a:avLst/>
          </a:prstGeom>
          <a:noFill/>
          <a:ln/>
        </p:spPr>
        <p:txBody>
          <a:bodyPr wrap="square" rtlCol="0" anchor="t"/>
          <a:lstStyle/>
          <a:p>
            <a:pPr marL="0" indent="0">
              <a:spcAft>
                <a:spcPts val="1200"/>
              </a:spcAft>
              <a:buNone/>
            </a:pPr>
            <a:r>
              <a:rPr lang="en-US" sz="1600" dirty="0">
                <a:solidFill>
                  <a:srgbClr val="404040"/>
                </a:solidFill>
                <a:latin typeface="Calibri" pitchFamily="34" charset="0"/>
                <a:ea typeface="Calibri" pitchFamily="34" charset="-122"/>
                <a:cs typeface="Calibri" pitchFamily="34" charset="-120"/>
              </a:rPr>
              <a:t>Short 10-minute break between Block A and Block B (~ 8:00).</a:t>
            </a:r>
            <a:endParaRPr lang="en-US" sz="1600" dirty="0"/>
          </a:p>
          <a:p>
            <a:pPr marL="0" indent="0">
              <a:spcAft>
                <a:spcPts val="600"/>
              </a:spcAft>
              <a:buNone/>
            </a:pPr>
            <a:r>
              <a:rPr lang="en-US" sz="1800" b="1" dirty="0">
                <a:solidFill>
                  <a:srgbClr val="C00000"/>
                </a:solidFill>
                <a:latin typeface="Calibri" pitchFamily="34" charset="0"/>
                <a:ea typeface="Calibri" pitchFamily="34" charset="-122"/>
                <a:cs typeface="Calibri" pitchFamily="34" charset="-120"/>
              </a:rPr>
              <a:t>Lab is the most important part of the day.</a:t>
            </a:r>
            <a:endParaRPr lang="en-US" sz="1600" dirty="0"/>
          </a:p>
          <a:p>
            <a:pPr marL="0" indent="0">
              <a:buNone/>
            </a:pPr>
            <a:r>
              <a:rPr lang="en-US" sz="1400" dirty="0">
                <a:solidFill>
                  <a:srgbClr val="404040"/>
                </a:solidFill>
                <a:latin typeface="Calibri" pitchFamily="34" charset="0"/>
                <a:ea typeface="Calibri" pitchFamily="34" charset="-122"/>
                <a:cs typeface="Calibri" pitchFamily="34" charset="-120"/>
              </a:rPr>
              <a:t>You learn to program by programming. The lab is graded based on engagement and the artifact you submit by the end of the session — there is no "pass" without writing code.</a:t>
            </a:r>
            <a:endParaRPr lang="en-US" sz="16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Modes of Evaluation</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Total: 100% — full detail in the addendum on LEARN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040880" cy="914400"/>
        </p:xfrm>
        <a:graphic>
          <a:graphicData uri="http://schemas.openxmlformats.org/drawingml/2006/table">
            <a:tbl>
              <a:tblPr/>
              <a:tblGrid>
                <a:gridCol w="5669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Assignment 1 — core data model</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Assignment 2 — inheritance &amp; polymorphism</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Assignment 3 — exception-safe pointers &amp; data structures</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Assignment 4 — threading &amp; file persistence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Project Presentation (recorded, due Week 13)</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400" dirty="0">
                          <a:solidFill>
                            <a:srgbClr val="404040"/>
                          </a:solidFill>
                          <a:latin typeface="Calibri" pitchFamily="34" charset="0"/>
                          <a:ea typeface="Calibri" pitchFamily="34" charset="-122"/>
                          <a:cs typeface="Calibri" pitchFamily="34" charset="-120"/>
                        </a:rPr>
                        <a:t>Labs / Workshops (combined, all 10)</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4040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400" b="1" dirty="0">
                          <a:solidFill>
                            <a:srgbClr val="404040"/>
                          </a:solidFill>
                          <a:latin typeface="Calibri" pitchFamily="34" charset="0"/>
                          <a:ea typeface="Calibri" pitchFamily="34" charset="-122"/>
                          <a:cs typeface="Calibri" pitchFamily="34" charset="-120"/>
                        </a:rPr>
                        <a:t>Test 1 (Week 7)</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C0000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400" b="1" dirty="0">
                          <a:solidFill>
                            <a:srgbClr val="404040"/>
                          </a:solidFill>
                          <a:latin typeface="Calibri" pitchFamily="34" charset="0"/>
                          <a:ea typeface="Calibri" pitchFamily="34" charset="-122"/>
                          <a:cs typeface="Calibri" pitchFamily="34" charset="-120"/>
                        </a:rPr>
                        <a:t>Test 2 (Week 10)</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C0000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400" b="1" dirty="0">
                          <a:solidFill>
                            <a:srgbClr val="404040"/>
                          </a:solidFill>
                          <a:latin typeface="Calibri" pitchFamily="34" charset="0"/>
                          <a:ea typeface="Calibri" pitchFamily="34" charset="-122"/>
                          <a:cs typeface="Calibri" pitchFamily="34" charset="-120"/>
                        </a:rPr>
                        <a:t>Final Exam (Week 14, cumulative)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r">
                        <a:buNone/>
                      </a:pPr>
                      <a:r>
                        <a:rPr lang="en-US" sz="1400" b="1" dirty="0">
                          <a:solidFill>
                            <a:srgbClr val="C00000"/>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3"/>
          <p:cNvSpPr/>
          <p:nvPr/>
        </p:nvSpPr>
        <p:spPr>
          <a:xfrm>
            <a:off x="7772400" y="1371600"/>
            <a:ext cx="3931920" cy="4572000"/>
          </a:xfrm>
          <a:prstGeom prst="rect">
            <a:avLst/>
          </a:prstGeom>
          <a:solidFill>
            <a:srgbClr val="FBE9D8"/>
          </a:solidFill>
          <a:ln w="12700">
            <a:solidFill>
              <a:srgbClr val="C99B2D"/>
            </a:solidFill>
            <a:prstDash val="solid"/>
          </a:ln>
        </p:spPr>
        <p:txBody>
          <a:bodyPr/>
          <a:lstStyle/>
          <a:p>
            <a:endParaRPr lang="en-US"/>
          </a:p>
        </p:txBody>
      </p:sp>
      <p:sp>
        <p:nvSpPr>
          <p:cNvPr id="7" name="Text 4"/>
          <p:cNvSpPr/>
          <p:nvPr/>
        </p:nvSpPr>
        <p:spPr>
          <a:xfrm>
            <a:off x="7955280" y="1508760"/>
            <a:ext cx="3566160" cy="320040"/>
          </a:xfrm>
          <a:prstGeom prst="rect">
            <a:avLst/>
          </a:prstGeom>
          <a:noFill/>
          <a:ln/>
        </p:spPr>
        <p:txBody>
          <a:bodyPr wrap="square" rtlCol="0" anchor="ctr"/>
          <a:lstStyle/>
          <a:p>
            <a:pPr marL="0" indent="0">
              <a:buNone/>
            </a:pPr>
            <a:r>
              <a:rPr lang="en-US" sz="1200" b="1" kern="0" spc="300" dirty="0">
                <a:solidFill>
                  <a:srgbClr val="C99B2D"/>
                </a:solidFill>
                <a:latin typeface="Calibri" pitchFamily="34" charset="0"/>
                <a:ea typeface="Calibri" pitchFamily="34" charset="-122"/>
                <a:cs typeface="Calibri" pitchFamily="34" charset="-120"/>
              </a:rPr>
              <a:t>TWO RULES TO PASS</a:t>
            </a:r>
            <a:endParaRPr lang="en-US" sz="1200" dirty="0"/>
          </a:p>
        </p:txBody>
      </p:sp>
      <p:sp>
        <p:nvSpPr>
          <p:cNvPr id="5" name="Text 5"/>
          <p:cNvSpPr/>
          <p:nvPr/>
        </p:nvSpPr>
        <p:spPr>
          <a:xfrm>
            <a:off x="7955280" y="1874520"/>
            <a:ext cx="3566160" cy="3931920"/>
          </a:xfrm>
          <a:prstGeom prst="rect">
            <a:avLst/>
          </a:prstGeom>
          <a:noFill/>
          <a:ln/>
        </p:spPr>
        <p:txBody>
          <a:bodyPr wrap="square" rtlCol="0" anchor="t"/>
          <a:lstStyle/>
          <a:p>
            <a:pPr marL="0" indent="0">
              <a:spcAft>
                <a:spcPts val="1400"/>
              </a:spcAft>
              <a:buNone/>
            </a:pPr>
            <a:r>
              <a:rPr lang="en-US" sz="1500" dirty="0">
                <a:solidFill>
                  <a:srgbClr val="404040"/>
                </a:solidFill>
                <a:latin typeface="Calibri" pitchFamily="34" charset="0"/>
                <a:ea typeface="Calibri" pitchFamily="34" charset="-122"/>
                <a:cs typeface="Calibri" pitchFamily="34" charset="-120"/>
              </a:rPr>
              <a:t>1. ≥ 50% on the weighted average of all tests (T1 + T2 + Final).</a:t>
            </a:r>
            <a:endParaRPr lang="en-US" sz="1500" dirty="0"/>
          </a:p>
          <a:p>
            <a:pPr marL="0" indent="0">
              <a:spcAft>
                <a:spcPts val="1400"/>
              </a:spcAft>
              <a:buNone/>
            </a:pPr>
            <a:r>
              <a:rPr lang="en-US" sz="1500" dirty="0">
                <a:solidFill>
                  <a:srgbClr val="404040"/>
                </a:solidFill>
                <a:latin typeface="Calibri" pitchFamily="34" charset="0"/>
                <a:ea typeface="Calibri" pitchFamily="34" charset="-122"/>
                <a:cs typeface="Calibri" pitchFamily="34" charset="-120"/>
              </a:rPr>
              <a:t>2. ≥ 50% on the weighted average of all assessments combined.</a:t>
            </a:r>
            <a:endParaRPr lang="en-US" sz="1500" dirty="0"/>
          </a:p>
          <a:p>
            <a:pPr marL="0" indent="0">
              <a:buNone/>
            </a:pPr>
            <a:r>
              <a:rPr lang="en-US" sz="1400" i="1" dirty="0">
                <a:solidFill>
                  <a:srgbClr val="C00000"/>
                </a:solidFill>
                <a:latin typeface="Calibri" pitchFamily="34" charset="0"/>
                <a:ea typeface="Calibri" pitchFamily="34" charset="-122"/>
                <a:cs typeface="Calibri" pitchFamily="34" charset="-120"/>
              </a:rPr>
              <a:t>You can fail one rule and still fail the course. Both must be ≥ 50%.</a:t>
            </a:r>
            <a:endParaRPr lang="en-US" sz="15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The four assignments form one project</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Each iteration enhances the previous code. Week 13 presentation walks the full system.</a:t>
            </a:r>
            <a:endParaRPr lang="en-US" sz="1400" dirty="0"/>
          </a:p>
        </p:txBody>
      </p:sp>
      <p:sp>
        <p:nvSpPr>
          <p:cNvPr id="5" name="Shape 3"/>
          <p:cNvSpPr/>
          <p:nvPr/>
        </p:nvSpPr>
        <p:spPr>
          <a:xfrm>
            <a:off x="457200" y="1371600"/>
            <a:ext cx="457200" cy="457200"/>
          </a:xfrm>
          <a:prstGeom prst="ellipse">
            <a:avLst/>
          </a:prstGeom>
          <a:solidFill>
            <a:srgbClr val="C00000"/>
          </a:solidFill>
          <a:ln/>
        </p:spPr>
        <p:txBody>
          <a:bodyPr/>
          <a:lstStyle/>
          <a:p>
            <a:endParaRPr lang="en-US"/>
          </a:p>
        </p:txBody>
      </p:sp>
      <p:sp>
        <p:nvSpPr>
          <p:cNvPr id="6" name="Text 4"/>
          <p:cNvSpPr/>
          <p:nvPr/>
        </p:nvSpPr>
        <p:spPr>
          <a:xfrm>
            <a:off x="457200" y="137160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97280" y="1325880"/>
            <a:ext cx="6675120" cy="411480"/>
          </a:xfrm>
          <a:prstGeom prst="rect">
            <a:avLst/>
          </a:prstGeom>
          <a:noFill/>
          <a:ln/>
        </p:spPr>
        <p:txBody>
          <a:bodyPr wrap="square"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A1 · Core data model</a:t>
            </a:r>
            <a:endParaRPr lang="en-US" sz="1700" dirty="0"/>
          </a:p>
        </p:txBody>
      </p:sp>
      <p:sp>
        <p:nvSpPr>
          <p:cNvPr id="8" name="Text 6"/>
          <p:cNvSpPr/>
          <p:nvPr/>
        </p:nvSpPr>
        <p:spPr>
          <a:xfrm>
            <a:off x="7955280" y="1325880"/>
            <a:ext cx="3840480" cy="411480"/>
          </a:xfrm>
          <a:prstGeom prst="rect">
            <a:avLst/>
          </a:prstGeom>
          <a:noFill/>
          <a:ln/>
        </p:spPr>
        <p:txBody>
          <a:bodyPr wrap="square" rtlCol="0" anchor="ctr"/>
          <a:lstStyle/>
          <a:p>
            <a:pPr marL="0" indent="0" algn="r">
              <a:buNone/>
            </a:pPr>
            <a:r>
              <a:rPr lang="en-US" sz="1300" b="1" dirty="0">
                <a:solidFill>
                  <a:srgbClr val="C00000"/>
                </a:solidFill>
                <a:latin typeface="Calibri" pitchFamily="34" charset="0"/>
                <a:ea typeface="Calibri" pitchFamily="34" charset="-122"/>
                <a:cs typeface="Calibri" pitchFamily="34" charset="-120"/>
              </a:rPr>
              <a:t>Released W4 · Due W5</a:t>
            </a:r>
            <a:endParaRPr lang="en-US" sz="1300" dirty="0"/>
          </a:p>
        </p:txBody>
      </p:sp>
      <p:sp>
        <p:nvSpPr>
          <p:cNvPr id="9" name="Text 7"/>
          <p:cNvSpPr/>
          <p:nvPr/>
        </p:nvSpPr>
        <p:spPr>
          <a:xfrm>
            <a:off x="1097280" y="1737360"/>
            <a:ext cx="1069848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Define your domain. Build classes for the entities you will operate on. Use composition &amp; aggregation cleanly.</a:t>
            </a:r>
            <a:endParaRPr lang="en-US" sz="1300" dirty="0"/>
          </a:p>
        </p:txBody>
      </p:sp>
      <p:sp>
        <p:nvSpPr>
          <p:cNvPr id="10" name="Shape 8"/>
          <p:cNvSpPr/>
          <p:nvPr/>
        </p:nvSpPr>
        <p:spPr>
          <a:xfrm>
            <a:off x="457200" y="2331720"/>
            <a:ext cx="457200" cy="457200"/>
          </a:xfrm>
          <a:prstGeom prst="ellipse">
            <a:avLst/>
          </a:prstGeom>
          <a:solidFill>
            <a:srgbClr val="C00000"/>
          </a:solidFill>
          <a:ln/>
        </p:spPr>
        <p:txBody>
          <a:bodyPr/>
          <a:lstStyle/>
          <a:p>
            <a:endParaRPr lang="en-US"/>
          </a:p>
        </p:txBody>
      </p:sp>
      <p:sp>
        <p:nvSpPr>
          <p:cNvPr id="11" name="Text 9"/>
          <p:cNvSpPr/>
          <p:nvPr/>
        </p:nvSpPr>
        <p:spPr>
          <a:xfrm>
            <a:off x="457200" y="23317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97280" y="2286000"/>
            <a:ext cx="6675120" cy="411480"/>
          </a:xfrm>
          <a:prstGeom prst="rect">
            <a:avLst/>
          </a:prstGeom>
          <a:noFill/>
          <a:ln/>
        </p:spPr>
        <p:txBody>
          <a:bodyPr wrap="square"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A2 · Inheritance + Polymorphism</a:t>
            </a:r>
            <a:endParaRPr lang="en-US" sz="1700" dirty="0"/>
          </a:p>
        </p:txBody>
      </p:sp>
      <p:sp>
        <p:nvSpPr>
          <p:cNvPr id="13" name="Text 11"/>
          <p:cNvSpPr/>
          <p:nvPr/>
        </p:nvSpPr>
        <p:spPr>
          <a:xfrm>
            <a:off x="7955280" y="2286000"/>
            <a:ext cx="3840480" cy="411480"/>
          </a:xfrm>
          <a:prstGeom prst="rect">
            <a:avLst/>
          </a:prstGeom>
          <a:noFill/>
          <a:ln/>
        </p:spPr>
        <p:txBody>
          <a:bodyPr wrap="square" rtlCol="0" anchor="ctr"/>
          <a:lstStyle/>
          <a:p>
            <a:pPr marL="0" indent="0" algn="r">
              <a:buNone/>
            </a:pPr>
            <a:r>
              <a:rPr lang="en-US" sz="1300" b="1" dirty="0">
                <a:solidFill>
                  <a:srgbClr val="C00000"/>
                </a:solidFill>
                <a:latin typeface="Calibri" pitchFamily="34" charset="0"/>
                <a:ea typeface="Calibri" pitchFamily="34" charset="-122"/>
                <a:cs typeface="Calibri" pitchFamily="34" charset="-120"/>
              </a:rPr>
              <a:t>Due W8</a:t>
            </a:r>
            <a:endParaRPr lang="en-US" sz="1300" dirty="0"/>
          </a:p>
        </p:txBody>
      </p:sp>
      <p:sp>
        <p:nvSpPr>
          <p:cNvPr id="14" name="Text 12"/>
          <p:cNvSpPr/>
          <p:nvPr/>
        </p:nvSpPr>
        <p:spPr>
          <a:xfrm>
            <a:off x="1097280" y="2697480"/>
            <a:ext cx="1069848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Refactor A1 with an inheritance hierarchy and virtual functions. Re-use code through templates.</a:t>
            </a:r>
            <a:endParaRPr lang="en-US" sz="1300" dirty="0"/>
          </a:p>
        </p:txBody>
      </p:sp>
      <p:sp>
        <p:nvSpPr>
          <p:cNvPr id="15" name="Shape 13"/>
          <p:cNvSpPr/>
          <p:nvPr/>
        </p:nvSpPr>
        <p:spPr>
          <a:xfrm>
            <a:off x="457200" y="3291840"/>
            <a:ext cx="457200" cy="457200"/>
          </a:xfrm>
          <a:prstGeom prst="ellipse">
            <a:avLst/>
          </a:prstGeom>
          <a:solidFill>
            <a:srgbClr val="C00000"/>
          </a:solidFill>
          <a:ln/>
        </p:spPr>
        <p:txBody>
          <a:bodyPr/>
          <a:lstStyle/>
          <a:p>
            <a:endParaRPr lang="en-US"/>
          </a:p>
        </p:txBody>
      </p:sp>
      <p:sp>
        <p:nvSpPr>
          <p:cNvPr id="16" name="Text 14"/>
          <p:cNvSpPr/>
          <p:nvPr/>
        </p:nvSpPr>
        <p:spPr>
          <a:xfrm>
            <a:off x="457200" y="329184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97280" y="3246120"/>
            <a:ext cx="6675120" cy="411480"/>
          </a:xfrm>
          <a:prstGeom prst="rect">
            <a:avLst/>
          </a:prstGeom>
          <a:noFill/>
          <a:ln/>
        </p:spPr>
        <p:txBody>
          <a:bodyPr wrap="square"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A3 · Pointers &amp; Data structures</a:t>
            </a:r>
            <a:endParaRPr lang="en-US" sz="1700" dirty="0"/>
          </a:p>
        </p:txBody>
      </p:sp>
      <p:sp>
        <p:nvSpPr>
          <p:cNvPr id="18" name="Text 16"/>
          <p:cNvSpPr/>
          <p:nvPr/>
        </p:nvSpPr>
        <p:spPr>
          <a:xfrm>
            <a:off x="7955280" y="3246120"/>
            <a:ext cx="3840480" cy="411480"/>
          </a:xfrm>
          <a:prstGeom prst="rect">
            <a:avLst/>
          </a:prstGeom>
          <a:noFill/>
          <a:ln/>
        </p:spPr>
        <p:txBody>
          <a:bodyPr wrap="square" rtlCol="0" anchor="ctr"/>
          <a:lstStyle/>
          <a:p>
            <a:pPr marL="0" indent="0" algn="r">
              <a:buNone/>
            </a:pPr>
            <a:r>
              <a:rPr lang="en-US" sz="1300" b="1" dirty="0">
                <a:solidFill>
                  <a:srgbClr val="C00000"/>
                </a:solidFill>
                <a:latin typeface="Calibri" pitchFamily="34" charset="0"/>
                <a:ea typeface="Calibri" pitchFamily="34" charset="-122"/>
                <a:cs typeface="Calibri" pitchFamily="34" charset="-120"/>
              </a:rPr>
              <a:t>Released W8 · Due W10</a:t>
            </a:r>
            <a:endParaRPr lang="en-US" sz="1300" dirty="0"/>
          </a:p>
        </p:txBody>
      </p:sp>
      <p:sp>
        <p:nvSpPr>
          <p:cNvPr id="19" name="Text 17"/>
          <p:cNvSpPr/>
          <p:nvPr/>
        </p:nvSpPr>
        <p:spPr>
          <a:xfrm>
            <a:off x="1097280" y="3657600"/>
            <a:ext cx="1069848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Add a custom linked list / hash table. Exception-safe memory with smart pointers.</a:t>
            </a:r>
            <a:endParaRPr lang="en-US" sz="1300" dirty="0"/>
          </a:p>
        </p:txBody>
      </p:sp>
      <p:sp>
        <p:nvSpPr>
          <p:cNvPr id="20" name="Shape 18"/>
          <p:cNvSpPr/>
          <p:nvPr/>
        </p:nvSpPr>
        <p:spPr>
          <a:xfrm>
            <a:off x="457200" y="4251960"/>
            <a:ext cx="457200" cy="457200"/>
          </a:xfrm>
          <a:prstGeom prst="ellipse">
            <a:avLst/>
          </a:prstGeom>
          <a:solidFill>
            <a:srgbClr val="C00000"/>
          </a:solidFill>
          <a:ln/>
        </p:spPr>
        <p:txBody>
          <a:bodyPr/>
          <a:lstStyle/>
          <a:p>
            <a:endParaRPr lang="en-US"/>
          </a:p>
        </p:txBody>
      </p:sp>
      <p:sp>
        <p:nvSpPr>
          <p:cNvPr id="21" name="Text 19"/>
          <p:cNvSpPr/>
          <p:nvPr/>
        </p:nvSpPr>
        <p:spPr>
          <a:xfrm>
            <a:off x="457200" y="425196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097280" y="4206240"/>
            <a:ext cx="6675120" cy="411480"/>
          </a:xfrm>
          <a:prstGeom prst="rect">
            <a:avLst/>
          </a:prstGeom>
          <a:noFill/>
          <a:ln/>
        </p:spPr>
        <p:txBody>
          <a:bodyPr wrap="square"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A4 · Threading + File I/O</a:t>
            </a:r>
            <a:endParaRPr lang="en-US" sz="1700" dirty="0"/>
          </a:p>
        </p:txBody>
      </p:sp>
      <p:sp>
        <p:nvSpPr>
          <p:cNvPr id="23" name="Text 21"/>
          <p:cNvSpPr/>
          <p:nvPr/>
        </p:nvSpPr>
        <p:spPr>
          <a:xfrm>
            <a:off x="7955280" y="4206240"/>
            <a:ext cx="3840480" cy="411480"/>
          </a:xfrm>
          <a:prstGeom prst="rect">
            <a:avLst/>
          </a:prstGeom>
          <a:noFill/>
          <a:ln/>
        </p:spPr>
        <p:txBody>
          <a:bodyPr wrap="square" rtlCol="0" anchor="ctr"/>
          <a:lstStyle/>
          <a:p>
            <a:pPr marL="0" indent="0" algn="r">
              <a:buNone/>
            </a:pPr>
            <a:r>
              <a:rPr lang="en-US" sz="1300" b="1" dirty="0">
                <a:solidFill>
                  <a:srgbClr val="C00000"/>
                </a:solidFill>
                <a:latin typeface="Calibri" pitchFamily="34" charset="0"/>
                <a:ea typeface="Calibri" pitchFamily="34" charset="-122"/>
                <a:cs typeface="Calibri" pitchFamily="34" charset="-120"/>
              </a:rPr>
              <a:t>Released W11 · Due W13</a:t>
            </a:r>
            <a:endParaRPr lang="en-US" sz="1300" dirty="0"/>
          </a:p>
        </p:txBody>
      </p:sp>
      <p:sp>
        <p:nvSpPr>
          <p:cNvPr id="24" name="Text 22"/>
          <p:cNvSpPr/>
          <p:nvPr/>
        </p:nvSpPr>
        <p:spPr>
          <a:xfrm>
            <a:off x="1097280" y="4617720"/>
            <a:ext cx="1069848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Parallelize hot paths with std::thread. Persist your state to text &amp; binary files.</a:t>
            </a:r>
            <a:endParaRPr lang="en-US" sz="1300" dirty="0"/>
          </a:p>
        </p:txBody>
      </p:sp>
      <p:sp>
        <p:nvSpPr>
          <p:cNvPr id="25" name="Shape 23"/>
          <p:cNvSpPr/>
          <p:nvPr/>
        </p:nvSpPr>
        <p:spPr>
          <a:xfrm>
            <a:off x="457200" y="5212080"/>
            <a:ext cx="457200" cy="457200"/>
          </a:xfrm>
          <a:prstGeom prst="ellipse">
            <a:avLst/>
          </a:prstGeom>
          <a:solidFill>
            <a:srgbClr val="C00000"/>
          </a:solidFill>
          <a:ln/>
        </p:spPr>
        <p:txBody>
          <a:bodyPr/>
          <a:lstStyle/>
          <a:p>
            <a:endParaRPr lang="en-US"/>
          </a:p>
        </p:txBody>
      </p:sp>
      <p:sp>
        <p:nvSpPr>
          <p:cNvPr id="26" name="Text 24"/>
          <p:cNvSpPr/>
          <p:nvPr/>
        </p:nvSpPr>
        <p:spPr>
          <a:xfrm>
            <a:off x="457200" y="521208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097280" y="5166360"/>
            <a:ext cx="6675120" cy="411480"/>
          </a:xfrm>
          <a:prstGeom prst="rect">
            <a:avLst/>
          </a:prstGeom>
          <a:noFill/>
          <a:ln/>
        </p:spPr>
        <p:txBody>
          <a:bodyPr wrap="square"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Presentation (recorded)</a:t>
            </a:r>
            <a:endParaRPr lang="en-US" sz="1700" dirty="0"/>
          </a:p>
        </p:txBody>
      </p:sp>
      <p:sp>
        <p:nvSpPr>
          <p:cNvPr id="28" name="Text 26"/>
          <p:cNvSpPr/>
          <p:nvPr/>
        </p:nvSpPr>
        <p:spPr>
          <a:xfrm>
            <a:off x="7955280" y="5166360"/>
            <a:ext cx="3840480" cy="411480"/>
          </a:xfrm>
          <a:prstGeom prst="rect">
            <a:avLst/>
          </a:prstGeom>
          <a:noFill/>
          <a:ln/>
        </p:spPr>
        <p:txBody>
          <a:bodyPr wrap="square" rtlCol="0" anchor="ctr"/>
          <a:lstStyle/>
          <a:p>
            <a:pPr marL="0" indent="0" algn="r">
              <a:buNone/>
            </a:pPr>
            <a:r>
              <a:rPr lang="en-US" sz="1300" b="1" dirty="0">
                <a:solidFill>
                  <a:srgbClr val="C00000"/>
                </a:solidFill>
                <a:latin typeface="Calibri" pitchFamily="34" charset="0"/>
                <a:ea typeface="Calibri" pitchFamily="34" charset="-122"/>
                <a:cs typeface="Calibri" pitchFamily="34" charset="-120"/>
              </a:rPr>
              <a:t>Released W11 · Due W13</a:t>
            </a:r>
            <a:endParaRPr lang="en-US" sz="1300" dirty="0"/>
          </a:p>
        </p:txBody>
      </p:sp>
      <p:sp>
        <p:nvSpPr>
          <p:cNvPr id="29" name="Text 27"/>
          <p:cNvSpPr/>
          <p:nvPr/>
        </p:nvSpPr>
        <p:spPr>
          <a:xfrm>
            <a:off x="1097280" y="5577840"/>
            <a:ext cx="1069848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10–15 min walkthrough of the full project. Demonstrate features A1–A4. Submit on LEARN.</a:t>
            </a:r>
            <a:endParaRPr lang="en-US" sz="1300" dirty="0"/>
          </a:p>
        </p:txBody>
      </p:sp>
      <p:sp>
        <p:nvSpPr>
          <p:cNvPr id="30"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Tools you need this week</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640080" y="1280160"/>
            <a:ext cx="365760" cy="365760"/>
          </a:xfrm>
          <a:prstGeom prst="ellipse">
            <a:avLst/>
          </a:prstGeom>
          <a:solidFill>
            <a:srgbClr val="C00000"/>
          </a:solidFill>
          <a:ln/>
        </p:spPr>
        <p:txBody>
          <a:bodyPr/>
          <a:lstStyle/>
          <a:p>
            <a:endParaRPr lang="en-US"/>
          </a:p>
        </p:txBody>
      </p:sp>
      <p:sp>
        <p:nvSpPr>
          <p:cNvPr id="5" name="Text 3"/>
          <p:cNvSpPr/>
          <p:nvPr/>
        </p:nvSpPr>
        <p:spPr>
          <a:xfrm>
            <a:off x="640080" y="12801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243584"/>
            <a:ext cx="10515600" cy="384048"/>
          </a:xfrm>
          <a:prstGeom prst="rect">
            <a:avLst/>
          </a:prstGeom>
          <a:noFill/>
          <a:ln/>
        </p:spPr>
        <p:txBody>
          <a:bodyPr wrap="square" rtlCol="0" anchor="ctr"/>
          <a:lstStyle/>
          <a:p>
            <a:pPr marL="0" indent="0">
              <a:buNone/>
            </a:pPr>
            <a:r>
              <a:rPr lang="en-US" sz="1800" b="1" dirty="0">
                <a:solidFill>
                  <a:srgbClr val="002060"/>
                </a:solidFill>
                <a:latin typeface="Calibri" pitchFamily="34" charset="0"/>
                <a:ea typeface="Calibri" pitchFamily="34" charset="-122"/>
                <a:cs typeface="Calibri" pitchFamily="34" charset="-120"/>
              </a:rPr>
              <a:t>A C++17/20 compiler</a:t>
            </a:r>
            <a:endParaRPr lang="en-US" sz="1800" dirty="0"/>
          </a:p>
        </p:txBody>
      </p:sp>
      <p:sp>
        <p:nvSpPr>
          <p:cNvPr id="7" name="Text 5"/>
          <p:cNvSpPr/>
          <p:nvPr/>
        </p:nvSpPr>
        <p:spPr>
          <a:xfrm>
            <a:off x="1188720" y="1645920"/>
            <a:ext cx="10515600" cy="640080"/>
          </a:xfrm>
          <a:prstGeom prst="rect">
            <a:avLst/>
          </a:prstGeom>
          <a:noFill/>
          <a:ln/>
        </p:spPr>
        <p:txBody>
          <a:bodyPr wrap="square" rtlCol="0" anchor="t"/>
          <a:lstStyle/>
          <a:p>
            <a:pPr marL="0" indent="0">
              <a:buNone/>
            </a:pPr>
            <a:r>
              <a:rPr lang="en-US" sz="1400" dirty="0">
                <a:solidFill>
                  <a:srgbClr val="404040"/>
                </a:solidFill>
                <a:latin typeface="Calibri" pitchFamily="34" charset="0"/>
                <a:ea typeface="Calibri" pitchFamily="34" charset="-122"/>
                <a:cs typeface="Calibri" pitchFamily="34" charset="-120"/>
              </a:rPr>
              <a:t>Visual Studio Community 2022 (Windows) · clang/g++ via Xcode (macOS) · g++ via WSL (Windows). All free.</a:t>
            </a:r>
            <a:endParaRPr lang="en-US" sz="1400" dirty="0"/>
          </a:p>
        </p:txBody>
      </p:sp>
      <p:sp>
        <p:nvSpPr>
          <p:cNvPr id="8" name="Shape 6"/>
          <p:cNvSpPr/>
          <p:nvPr/>
        </p:nvSpPr>
        <p:spPr>
          <a:xfrm>
            <a:off x="640080" y="2514600"/>
            <a:ext cx="365760" cy="365760"/>
          </a:xfrm>
          <a:prstGeom prst="ellipse">
            <a:avLst/>
          </a:prstGeom>
          <a:solidFill>
            <a:srgbClr val="C00000"/>
          </a:solidFill>
          <a:ln/>
        </p:spPr>
        <p:txBody>
          <a:bodyPr/>
          <a:lstStyle/>
          <a:p>
            <a:endParaRPr lang="en-US"/>
          </a:p>
        </p:txBody>
      </p:sp>
      <p:sp>
        <p:nvSpPr>
          <p:cNvPr id="9" name="Text 7"/>
          <p:cNvSpPr/>
          <p:nvPr/>
        </p:nvSpPr>
        <p:spPr>
          <a:xfrm>
            <a:off x="640080" y="25146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478024"/>
            <a:ext cx="10515600" cy="384048"/>
          </a:xfrm>
          <a:prstGeom prst="rect">
            <a:avLst/>
          </a:prstGeom>
          <a:noFill/>
          <a:ln/>
        </p:spPr>
        <p:txBody>
          <a:bodyPr wrap="square" rtlCol="0" anchor="ctr"/>
          <a:lstStyle/>
          <a:p>
            <a:pPr marL="0" indent="0">
              <a:buNone/>
            </a:pPr>
            <a:r>
              <a:rPr lang="en-US" sz="1800" b="1" dirty="0">
                <a:solidFill>
                  <a:srgbClr val="002060"/>
                </a:solidFill>
                <a:latin typeface="Calibri" pitchFamily="34" charset="0"/>
                <a:ea typeface="Calibri" pitchFamily="34" charset="-122"/>
                <a:cs typeface="Calibri" pitchFamily="34" charset="-120"/>
              </a:rPr>
              <a:t>VS Code or Visual Studio</a:t>
            </a:r>
            <a:endParaRPr lang="en-US" sz="1800" dirty="0"/>
          </a:p>
        </p:txBody>
      </p:sp>
      <p:sp>
        <p:nvSpPr>
          <p:cNvPr id="11" name="Text 9"/>
          <p:cNvSpPr/>
          <p:nvPr/>
        </p:nvSpPr>
        <p:spPr>
          <a:xfrm>
            <a:off x="1188720" y="2880360"/>
            <a:ext cx="10515600" cy="640080"/>
          </a:xfrm>
          <a:prstGeom prst="rect">
            <a:avLst/>
          </a:prstGeom>
          <a:noFill/>
          <a:ln/>
        </p:spPr>
        <p:txBody>
          <a:bodyPr wrap="square" rtlCol="0" anchor="t"/>
          <a:lstStyle/>
          <a:p>
            <a:pPr marL="0" indent="0">
              <a:buNone/>
            </a:pPr>
            <a:r>
              <a:rPr lang="en-US" sz="1400" dirty="0">
                <a:solidFill>
                  <a:srgbClr val="404040"/>
                </a:solidFill>
                <a:latin typeface="Calibri" pitchFamily="34" charset="0"/>
                <a:ea typeface="Calibri" pitchFamily="34" charset="-122"/>
                <a:cs typeface="Calibri" pitchFamily="34" charset="-120"/>
              </a:rPr>
              <a:t>Either works. VS Code with the C/C++ extension pack is lightweight; VS Community gives you a full debugger and profiler.</a:t>
            </a:r>
            <a:endParaRPr lang="en-US" sz="1400" dirty="0"/>
          </a:p>
        </p:txBody>
      </p:sp>
      <p:sp>
        <p:nvSpPr>
          <p:cNvPr id="12" name="Shape 10"/>
          <p:cNvSpPr/>
          <p:nvPr/>
        </p:nvSpPr>
        <p:spPr>
          <a:xfrm>
            <a:off x="640080" y="3749040"/>
            <a:ext cx="365760" cy="365760"/>
          </a:xfrm>
          <a:prstGeom prst="ellipse">
            <a:avLst/>
          </a:prstGeom>
          <a:solidFill>
            <a:srgbClr val="C00000"/>
          </a:solidFill>
          <a:ln/>
        </p:spPr>
        <p:txBody>
          <a:bodyPr/>
          <a:lstStyle/>
          <a:p>
            <a:endParaRPr lang="en-US"/>
          </a:p>
        </p:txBody>
      </p:sp>
      <p:sp>
        <p:nvSpPr>
          <p:cNvPr id="13" name="Text 11"/>
          <p:cNvSpPr/>
          <p:nvPr/>
        </p:nvSpPr>
        <p:spPr>
          <a:xfrm>
            <a:off x="640080" y="37490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88720" y="3712464"/>
            <a:ext cx="10515600" cy="384048"/>
          </a:xfrm>
          <a:prstGeom prst="rect">
            <a:avLst/>
          </a:prstGeom>
          <a:noFill/>
          <a:ln/>
        </p:spPr>
        <p:txBody>
          <a:bodyPr wrap="square" rtlCol="0" anchor="ctr"/>
          <a:lstStyle/>
          <a:p>
            <a:pPr marL="0" indent="0">
              <a:buNone/>
            </a:pPr>
            <a:r>
              <a:rPr lang="en-US" sz="1800" b="1" dirty="0">
                <a:solidFill>
                  <a:srgbClr val="002060"/>
                </a:solidFill>
                <a:latin typeface="Calibri" pitchFamily="34" charset="0"/>
                <a:ea typeface="Calibri" pitchFamily="34" charset="-122"/>
                <a:cs typeface="Calibri" pitchFamily="34" charset="-120"/>
              </a:rPr>
              <a:t>Git + a GitHub account</a:t>
            </a:r>
            <a:endParaRPr lang="en-US" sz="1800" dirty="0"/>
          </a:p>
        </p:txBody>
      </p:sp>
      <p:sp>
        <p:nvSpPr>
          <p:cNvPr id="15" name="Text 13"/>
          <p:cNvSpPr/>
          <p:nvPr/>
        </p:nvSpPr>
        <p:spPr>
          <a:xfrm>
            <a:off x="1188720" y="4114800"/>
            <a:ext cx="10515600" cy="640080"/>
          </a:xfrm>
          <a:prstGeom prst="rect">
            <a:avLst/>
          </a:prstGeom>
          <a:noFill/>
          <a:ln/>
        </p:spPr>
        <p:txBody>
          <a:bodyPr wrap="square" rtlCol="0" anchor="t"/>
          <a:lstStyle/>
          <a:p>
            <a:pPr marL="0" indent="0">
              <a:buNone/>
            </a:pPr>
            <a:r>
              <a:rPr lang="en-US" sz="1400" dirty="0">
                <a:solidFill>
                  <a:srgbClr val="404040"/>
                </a:solidFill>
                <a:latin typeface="Calibri" pitchFamily="34" charset="0"/>
                <a:ea typeface="Calibri" pitchFamily="34" charset="-122"/>
                <a:cs typeface="Calibri" pitchFamily="34" charset="-120"/>
              </a:rPr>
              <a:t>Every assignment lives in a private GitHub repository — that is your submission. Free GitHub Student Pack waives the cost of paid features.</a:t>
            </a:r>
            <a:endParaRPr lang="en-US" sz="1400" dirty="0"/>
          </a:p>
        </p:txBody>
      </p:sp>
      <p:sp>
        <p:nvSpPr>
          <p:cNvPr id="16" name="Shape 14"/>
          <p:cNvSpPr/>
          <p:nvPr/>
        </p:nvSpPr>
        <p:spPr>
          <a:xfrm>
            <a:off x="640080" y="4983480"/>
            <a:ext cx="365760" cy="365760"/>
          </a:xfrm>
          <a:prstGeom prst="ellipse">
            <a:avLst/>
          </a:prstGeom>
          <a:solidFill>
            <a:srgbClr val="C00000"/>
          </a:solidFill>
          <a:ln/>
        </p:spPr>
        <p:txBody>
          <a:bodyPr/>
          <a:lstStyle/>
          <a:p>
            <a:endParaRPr lang="en-US"/>
          </a:p>
        </p:txBody>
      </p:sp>
      <p:sp>
        <p:nvSpPr>
          <p:cNvPr id="17" name="Text 15"/>
          <p:cNvSpPr/>
          <p:nvPr/>
        </p:nvSpPr>
        <p:spPr>
          <a:xfrm>
            <a:off x="640080" y="49834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88720" y="4946904"/>
            <a:ext cx="10515600" cy="384048"/>
          </a:xfrm>
          <a:prstGeom prst="rect">
            <a:avLst/>
          </a:prstGeom>
          <a:noFill/>
          <a:ln/>
        </p:spPr>
        <p:txBody>
          <a:bodyPr wrap="square" rtlCol="0" anchor="ctr"/>
          <a:lstStyle/>
          <a:p>
            <a:pPr marL="0" indent="0">
              <a:buNone/>
            </a:pPr>
            <a:r>
              <a:rPr lang="en-US" sz="1800" b="1" dirty="0">
                <a:solidFill>
                  <a:srgbClr val="002060"/>
                </a:solidFill>
                <a:latin typeface="Calibri" pitchFamily="34" charset="0"/>
                <a:ea typeface="Calibri" pitchFamily="34" charset="-122"/>
                <a:cs typeface="Calibri" pitchFamily="34" charset="-120"/>
              </a:rPr>
              <a:t>LEARN @ Seneca</a:t>
            </a:r>
            <a:endParaRPr lang="en-US" sz="1800" dirty="0"/>
          </a:p>
        </p:txBody>
      </p:sp>
      <p:sp>
        <p:nvSpPr>
          <p:cNvPr id="19" name="Text 17"/>
          <p:cNvSpPr/>
          <p:nvPr/>
        </p:nvSpPr>
        <p:spPr>
          <a:xfrm>
            <a:off x="1188720" y="5349240"/>
            <a:ext cx="10515600" cy="640080"/>
          </a:xfrm>
          <a:prstGeom prst="rect">
            <a:avLst/>
          </a:prstGeom>
          <a:noFill/>
          <a:ln/>
        </p:spPr>
        <p:txBody>
          <a:bodyPr wrap="square" rtlCol="0" anchor="t"/>
          <a:lstStyle/>
          <a:p>
            <a:pPr marL="0" indent="0">
              <a:buNone/>
            </a:pPr>
            <a:r>
              <a:rPr lang="en-US" sz="1400" dirty="0">
                <a:solidFill>
                  <a:srgbClr val="404040"/>
                </a:solidFill>
                <a:latin typeface="Calibri" pitchFamily="34" charset="0"/>
                <a:ea typeface="Calibri" pitchFamily="34" charset="-122"/>
                <a:cs typeface="Calibri" pitchFamily="34" charset="-120"/>
              </a:rPr>
              <a:t>Slides, addendum, narrated recordings, lab specs, assignment specs, grades — everything is on LEARN. Bookmark it tonight.</a:t>
            </a:r>
            <a:endParaRPr lang="en-US" sz="14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Communication, expectations &amp; academic integrity</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1371600"/>
            <a:ext cx="5486400" cy="365760"/>
          </a:xfrm>
          <a:prstGeom prst="rect">
            <a:avLst/>
          </a:prstGeom>
          <a:noFill/>
          <a:ln/>
        </p:spPr>
        <p:txBody>
          <a:bodyPr wrap="square" rtlCol="0" anchor="ctr"/>
          <a:lstStyle/>
          <a:p>
            <a:pPr marL="0" indent="0">
              <a:buNone/>
            </a:pPr>
            <a:r>
              <a:rPr lang="en-US" sz="1700" b="1" dirty="0">
                <a:solidFill>
                  <a:srgbClr val="C00000"/>
                </a:solidFill>
                <a:latin typeface="Calibri" pitchFamily="34" charset="0"/>
                <a:ea typeface="Calibri" pitchFamily="34" charset="-122"/>
                <a:cs typeface="Calibri" pitchFamily="34" charset="-120"/>
              </a:rPr>
              <a:t>How to reach me</a:t>
            </a:r>
            <a:endParaRPr lang="en-US" sz="1700" dirty="0"/>
          </a:p>
        </p:txBody>
      </p:sp>
      <p:sp>
        <p:nvSpPr>
          <p:cNvPr id="5" name="Text 3"/>
          <p:cNvSpPr/>
          <p:nvPr/>
        </p:nvSpPr>
        <p:spPr>
          <a:xfrm>
            <a:off x="457200" y="1737360"/>
            <a:ext cx="5486400" cy="2743200"/>
          </a:xfrm>
          <a:prstGeom prst="rect">
            <a:avLst/>
          </a:prstGeom>
          <a:noFill/>
          <a:ln/>
        </p:spPr>
        <p:txBody>
          <a:bodyPr wrap="square" rtlCol="0" anchor="t"/>
          <a:lstStyle/>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LEARN forum — first stop for course questions; classmates often answer fast.</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Email: adeel.javed@senecapolytechnic.ca — 1 business day turnaround.</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Virtual office hours — booked via LEARN scheduler.</a:t>
            </a:r>
            <a:endParaRPr lang="en-US" sz="1400" dirty="0"/>
          </a:p>
          <a:p>
            <a:pPr marL="342900" indent="-342900">
              <a:buSzPct val="100000"/>
              <a:buChar char="■"/>
            </a:pPr>
            <a:r>
              <a:rPr lang="en-US" sz="1400" dirty="0">
                <a:solidFill>
                  <a:srgbClr val="404040"/>
                </a:solidFill>
                <a:latin typeface="Calibri" pitchFamily="34" charset="0"/>
                <a:ea typeface="Calibri" pitchFamily="34" charset="-122"/>
                <a:cs typeface="Calibri" pitchFamily="34" charset="-120"/>
              </a:rPr>
              <a:t>During class, drop questions in the Teams chat — I check every few minutes.</a:t>
            </a:r>
            <a:endParaRPr lang="en-US" sz="1400" dirty="0"/>
          </a:p>
        </p:txBody>
      </p:sp>
      <p:sp>
        <p:nvSpPr>
          <p:cNvPr id="6" name="Shape 4"/>
          <p:cNvSpPr/>
          <p:nvPr/>
        </p:nvSpPr>
        <p:spPr>
          <a:xfrm>
            <a:off x="6400800" y="1371600"/>
            <a:ext cx="5303520" cy="4206240"/>
          </a:xfrm>
          <a:prstGeom prst="rect">
            <a:avLst/>
          </a:prstGeom>
          <a:solidFill>
            <a:srgbClr val="FBE9D8"/>
          </a:solidFill>
          <a:ln w="12700">
            <a:solidFill>
              <a:srgbClr val="C99B2D"/>
            </a:solidFill>
            <a:prstDash val="solid"/>
          </a:ln>
        </p:spPr>
        <p:txBody>
          <a:bodyPr/>
          <a:lstStyle/>
          <a:p>
            <a:endParaRPr lang="en-US"/>
          </a:p>
        </p:txBody>
      </p:sp>
      <p:sp>
        <p:nvSpPr>
          <p:cNvPr id="7" name="Text 5"/>
          <p:cNvSpPr/>
          <p:nvPr/>
        </p:nvSpPr>
        <p:spPr>
          <a:xfrm>
            <a:off x="6583680" y="1508760"/>
            <a:ext cx="4937760" cy="365760"/>
          </a:xfrm>
          <a:prstGeom prst="rect">
            <a:avLst/>
          </a:prstGeom>
          <a:noFill/>
          <a:ln/>
        </p:spPr>
        <p:txBody>
          <a:bodyPr wrap="square" rtlCol="0" anchor="ctr"/>
          <a:lstStyle/>
          <a:p>
            <a:pPr marL="0" indent="0">
              <a:buNone/>
            </a:pPr>
            <a:r>
              <a:rPr lang="en-US" sz="1300" b="1" kern="0" spc="300" dirty="0">
                <a:solidFill>
                  <a:srgbClr val="C99B2D"/>
                </a:solidFill>
                <a:latin typeface="Calibri" pitchFamily="34" charset="0"/>
                <a:ea typeface="Calibri" pitchFamily="34" charset="-122"/>
                <a:cs typeface="Calibri" pitchFamily="34" charset="-120"/>
              </a:rPr>
              <a:t>ACADEMIC INTEGRITY &amp; AI</a:t>
            </a:r>
            <a:endParaRPr lang="en-US" sz="1300" dirty="0"/>
          </a:p>
        </p:txBody>
      </p:sp>
      <p:sp>
        <p:nvSpPr>
          <p:cNvPr id="8" name="Text 6"/>
          <p:cNvSpPr/>
          <p:nvPr/>
        </p:nvSpPr>
        <p:spPr>
          <a:xfrm>
            <a:off x="6583680" y="1920240"/>
            <a:ext cx="4937760" cy="3657600"/>
          </a:xfrm>
          <a:prstGeom prst="rect">
            <a:avLst/>
          </a:prstGeom>
          <a:noFill/>
          <a:ln/>
        </p:spPr>
        <p:txBody>
          <a:bodyPr wrap="square" rtlCol="0" anchor="t"/>
          <a:lstStyle/>
          <a:p>
            <a:pPr marL="0" indent="0">
              <a:spcAft>
                <a:spcPts val="800"/>
              </a:spcAft>
              <a:buNone/>
            </a:pPr>
            <a:r>
              <a:rPr lang="en-US" sz="1300" dirty="0">
                <a:solidFill>
                  <a:srgbClr val="404040"/>
                </a:solidFill>
                <a:latin typeface="Calibri" pitchFamily="34" charset="0"/>
                <a:ea typeface="Calibri" pitchFamily="34" charset="-122"/>
                <a:cs typeface="Calibri" pitchFamily="34" charset="-120"/>
              </a:rPr>
              <a:t>Submitted work must be yours. Disclose AI assistance in your repo's README.</a:t>
            </a:r>
            <a:endParaRPr lang="en-US" sz="1300" dirty="0"/>
          </a:p>
          <a:p>
            <a:pPr marL="0" indent="0">
              <a:spcAft>
                <a:spcPts val="800"/>
              </a:spcAft>
              <a:buNone/>
            </a:pPr>
            <a:r>
              <a:rPr lang="en-US" sz="1300" dirty="0">
                <a:solidFill>
                  <a:srgbClr val="404040"/>
                </a:solidFill>
                <a:latin typeface="Calibri" pitchFamily="34" charset="0"/>
                <a:ea typeface="Calibri" pitchFamily="34" charset="-122"/>
                <a:cs typeface="Calibri" pitchFamily="34" charset="-120"/>
              </a:rPr>
              <a:t>AI is a tutor, not a co-author. Use it to understand concepts; do not paste output as your own.</a:t>
            </a:r>
            <a:endParaRPr lang="en-US" sz="1300" dirty="0"/>
          </a:p>
          <a:p>
            <a:pPr marL="0" indent="0">
              <a:spcAft>
                <a:spcPts val="800"/>
              </a:spcAft>
              <a:buNone/>
            </a:pPr>
            <a:r>
              <a:rPr lang="en-US" sz="1300" dirty="0">
                <a:solidFill>
                  <a:srgbClr val="404040"/>
                </a:solidFill>
                <a:latin typeface="Calibri" pitchFamily="34" charset="0"/>
                <a:ea typeface="Calibri" pitchFamily="34" charset="-122"/>
                <a:cs typeface="Calibri" pitchFamily="34" charset="-120"/>
              </a:rPr>
              <a:t>Plagiarism, contract cheating, falsification, impersonation — sanctions per Seneca Academic Integrity Policy 2.3 &amp; Appendix B.</a:t>
            </a:r>
            <a:endParaRPr lang="en-US" sz="1300" dirty="0"/>
          </a:p>
          <a:p>
            <a:pPr marL="0" indent="0">
              <a:buNone/>
            </a:pPr>
            <a:r>
              <a:rPr lang="en-US" sz="1300" i="1" dirty="0">
                <a:solidFill>
                  <a:srgbClr val="C00000"/>
                </a:solidFill>
                <a:latin typeface="Calibri" pitchFamily="34" charset="0"/>
                <a:ea typeface="Calibri" pitchFamily="34" charset="-122"/>
                <a:cs typeface="Calibri" pitchFamily="34" charset="-120"/>
              </a:rPr>
              <a:t>When in doubt, ask before submitting.</a:t>
            </a:r>
            <a:endParaRPr lang="en-US" sz="13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4572000" cy="6446520"/>
          </a:xfrm>
          <a:prstGeom prst="rect">
            <a:avLst/>
          </a:prstGeom>
          <a:solidFill>
            <a:srgbClr val="002060"/>
          </a:solidFill>
          <a:ln/>
        </p:spPr>
        <p:txBody>
          <a:bodyPr/>
          <a:lstStyle/>
          <a:p>
            <a:endParaRPr lang="en-US"/>
          </a:p>
        </p:txBody>
      </p:sp>
      <p:sp>
        <p:nvSpPr>
          <p:cNvPr id="3" name="Text 1"/>
          <p:cNvSpPr/>
          <p:nvPr/>
        </p:nvSpPr>
        <p:spPr>
          <a:xfrm>
            <a:off x="548640" y="2194560"/>
            <a:ext cx="3657600" cy="45720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SECTION 1</a:t>
            </a:r>
            <a:endParaRPr lang="en-US" sz="1400" dirty="0"/>
          </a:p>
        </p:txBody>
      </p:sp>
      <p:sp>
        <p:nvSpPr>
          <p:cNvPr id="4" name="Text 2"/>
          <p:cNvSpPr/>
          <p:nvPr/>
        </p:nvSpPr>
        <p:spPr>
          <a:xfrm>
            <a:off x="548640" y="2697480"/>
            <a:ext cx="3657600" cy="1463040"/>
          </a:xfrm>
          <a:prstGeom prst="rect">
            <a:avLst/>
          </a:prstGeom>
          <a:noFill/>
          <a:ln/>
        </p:spPr>
        <p:txBody>
          <a:bodyPr wrap="square"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C++ Building Blocks</a:t>
            </a:r>
            <a:endParaRPr lang="en-US" sz="3000" dirty="0"/>
          </a:p>
        </p:txBody>
      </p:sp>
      <p:sp>
        <p:nvSpPr>
          <p:cNvPr id="5" name="Text 3"/>
          <p:cNvSpPr/>
          <p:nvPr/>
        </p:nvSpPr>
        <p:spPr>
          <a:xfrm>
            <a:off x="5120640" y="2468880"/>
            <a:ext cx="6583680" cy="2194560"/>
          </a:xfrm>
          <a:prstGeom prst="rect">
            <a:avLst/>
          </a:prstGeom>
          <a:noFill/>
          <a:ln/>
        </p:spPr>
        <p:txBody>
          <a:bodyPr wrap="square" rtlCol="0" anchor="t"/>
          <a:lstStyle/>
          <a:p>
            <a:pPr marL="0" indent="0">
              <a:buNone/>
            </a:pPr>
            <a:r>
              <a:rPr lang="en-US" sz="1800" dirty="0">
                <a:solidFill>
                  <a:srgbClr val="404040"/>
                </a:solidFill>
                <a:latin typeface="Calibri" pitchFamily="34" charset="0"/>
                <a:ea typeface="Calibri" pitchFamily="34" charset="-122"/>
                <a:cs typeface="Calibri" pitchFamily="34" charset="-120"/>
              </a:rPr>
              <a:t>What C++ is. How a program is structured. How it gets compiled. The mental model that everything else in this course depends on.</a:t>
            </a:r>
            <a:endParaRPr lang="en-US" sz="1800" dirty="0"/>
          </a:p>
        </p:txBody>
      </p:sp>
      <p:sp>
        <p:nvSpPr>
          <p:cNvPr id="6" name="Shape 4"/>
          <p:cNvSpPr/>
          <p:nvPr/>
        </p:nvSpPr>
        <p:spPr>
          <a:xfrm>
            <a:off x="5120640" y="2194560"/>
            <a:ext cx="548640" cy="73152"/>
          </a:xfrm>
          <a:prstGeom prst="rect">
            <a:avLst/>
          </a:prstGeom>
          <a:solidFill>
            <a:srgbClr val="C00000"/>
          </a:solidFill>
          <a:ln/>
        </p:spPr>
        <p:txBody>
          <a:bodyPr/>
          <a:lstStyle/>
          <a:p>
            <a:endParaRPr lang="en-US"/>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What is C++, really?</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1188720"/>
            <a:ext cx="6858000" cy="4937760"/>
          </a:xfrm>
          <a:prstGeom prst="rect">
            <a:avLst/>
          </a:prstGeom>
          <a:noFill/>
          <a:ln/>
        </p:spPr>
        <p:txBody>
          <a:bodyPr wrap="square" rtlCol="0" anchor="t"/>
          <a:lstStyle/>
          <a:p>
            <a:pPr marL="0" indent="0">
              <a:spcAft>
                <a:spcPts val="1200"/>
              </a:spcAft>
              <a:buNone/>
            </a:pPr>
            <a:r>
              <a:rPr lang="en-US" sz="1800" b="1" dirty="0">
                <a:solidFill>
                  <a:srgbClr val="002060"/>
                </a:solidFill>
                <a:latin typeface="Calibri" pitchFamily="34" charset="0"/>
                <a:ea typeface="Calibri" pitchFamily="34" charset="-122"/>
                <a:cs typeface="Calibri" pitchFamily="34" charset="-120"/>
              </a:rPr>
              <a:t>C++ is a multi-paradigm, statically-typed, compiled, systems programming language.</a:t>
            </a:r>
            <a:r>
              <a:rPr lang="en-US" sz="1600" b="1" dirty="0">
                <a:solidFill>
                  <a:srgbClr val="C00000"/>
                </a:solidFill>
                <a:latin typeface="Calibri" pitchFamily="34" charset="0"/>
                <a:ea typeface="Calibri" pitchFamily="34" charset="-122"/>
                <a:cs typeface="Calibri" pitchFamily="34" charset="-120"/>
              </a:rPr>
              <a:t>Multi-paradigm:  </a:t>
            </a:r>
            <a:r>
              <a:rPr lang="en-US" sz="1600" dirty="0">
                <a:solidFill>
                  <a:srgbClr val="404040"/>
                </a:solidFill>
                <a:latin typeface="Calibri" pitchFamily="34" charset="0"/>
                <a:ea typeface="Calibri" pitchFamily="34" charset="-122"/>
                <a:cs typeface="Calibri" pitchFamily="34" charset="-120"/>
              </a:rPr>
              <a:t>procedural · object-oriented · generic · functional. You pick the right tool per problem.</a:t>
            </a:r>
            <a:endParaRPr lang="en-US" sz="1800" dirty="0"/>
          </a:p>
          <a:p>
            <a:pPr marL="0" indent="0">
              <a:buNone/>
            </a:pPr>
            <a:r>
              <a:rPr lang="en-US" sz="1600" b="1" dirty="0">
                <a:solidFill>
                  <a:srgbClr val="C00000"/>
                </a:solidFill>
                <a:latin typeface="Calibri" pitchFamily="34" charset="0"/>
                <a:ea typeface="Calibri" pitchFamily="34" charset="-122"/>
                <a:cs typeface="Calibri" pitchFamily="34" charset="-120"/>
              </a:rPr>
              <a:t>Statically-typed:  </a:t>
            </a:r>
            <a:r>
              <a:rPr lang="en-US" sz="1600" dirty="0">
                <a:solidFill>
                  <a:srgbClr val="404040"/>
                </a:solidFill>
                <a:latin typeface="Calibri" pitchFamily="34" charset="0"/>
                <a:ea typeface="Calibri" pitchFamily="34" charset="-122"/>
                <a:cs typeface="Calibri" pitchFamily="34" charset="-120"/>
              </a:rPr>
              <a:t>every variable's type is known at compile time. The compiler is your first line of defense.</a:t>
            </a:r>
            <a:endParaRPr lang="en-US" sz="1800" dirty="0"/>
          </a:p>
          <a:p>
            <a:pPr marL="0" indent="0">
              <a:buNone/>
            </a:pPr>
            <a:r>
              <a:rPr lang="en-US" sz="1600" b="1" dirty="0">
                <a:solidFill>
                  <a:srgbClr val="C00000"/>
                </a:solidFill>
                <a:latin typeface="Calibri" pitchFamily="34" charset="0"/>
                <a:ea typeface="Calibri" pitchFamily="34" charset="-122"/>
                <a:cs typeface="Calibri" pitchFamily="34" charset="-120"/>
              </a:rPr>
              <a:t>Compiled:  </a:t>
            </a:r>
            <a:r>
              <a:rPr lang="en-US" sz="1600" dirty="0">
                <a:solidFill>
                  <a:srgbClr val="404040"/>
                </a:solidFill>
                <a:latin typeface="Calibri" pitchFamily="34" charset="0"/>
                <a:ea typeface="Calibri" pitchFamily="34" charset="-122"/>
                <a:cs typeface="Calibri" pitchFamily="34" charset="-120"/>
              </a:rPr>
              <a:t>source code is translated into native machine code — no virtual machine, no interpreter, no JIT.</a:t>
            </a:r>
            <a:endParaRPr lang="en-US" sz="1800" dirty="0"/>
          </a:p>
          <a:p>
            <a:pPr marL="0" indent="0">
              <a:buNone/>
            </a:pPr>
            <a:r>
              <a:rPr lang="en-US" sz="1600" b="1" dirty="0">
                <a:solidFill>
                  <a:srgbClr val="C00000"/>
                </a:solidFill>
                <a:latin typeface="Calibri" pitchFamily="34" charset="0"/>
                <a:ea typeface="Calibri" pitchFamily="34" charset="-122"/>
                <a:cs typeface="Calibri" pitchFamily="34" charset="-120"/>
              </a:rPr>
              <a:t>Systems-level:  </a:t>
            </a:r>
            <a:r>
              <a:rPr lang="en-US" sz="1600" dirty="0">
                <a:solidFill>
                  <a:srgbClr val="404040"/>
                </a:solidFill>
                <a:latin typeface="Calibri" pitchFamily="34" charset="0"/>
                <a:ea typeface="Calibri" pitchFamily="34" charset="-122"/>
                <a:cs typeface="Calibri" pitchFamily="34" charset="-120"/>
              </a:rPr>
              <a:t>you control memory, layout, and lifetime. With great power comes great responsibility.</a:t>
            </a:r>
            <a:endParaRPr lang="en-US" sz="1800" dirty="0"/>
          </a:p>
        </p:txBody>
      </p:sp>
      <p:sp>
        <p:nvSpPr>
          <p:cNvPr id="5" name="Shape 3"/>
          <p:cNvSpPr/>
          <p:nvPr/>
        </p:nvSpPr>
        <p:spPr>
          <a:xfrm>
            <a:off x="7589520" y="1371600"/>
            <a:ext cx="4114800" cy="2743200"/>
          </a:xfrm>
          <a:prstGeom prst="rect">
            <a:avLst/>
          </a:prstGeom>
          <a:solidFill>
            <a:srgbClr val="FBE9D8"/>
          </a:solidFill>
          <a:ln w="12700">
            <a:solidFill>
              <a:srgbClr val="C99B2D"/>
            </a:solidFill>
            <a:prstDash val="solid"/>
          </a:ln>
        </p:spPr>
        <p:txBody>
          <a:bodyPr/>
          <a:lstStyle/>
          <a:p>
            <a:endParaRPr lang="en-US"/>
          </a:p>
        </p:txBody>
      </p:sp>
      <p:sp>
        <p:nvSpPr>
          <p:cNvPr id="6" name="Text 4"/>
          <p:cNvSpPr/>
          <p:nvPr/>
        </p:nvSpPr>
        <p:spPr>
          <a:xfrm>
            <a:off x="7772400" y="1463040"/>
            <a:ext cx="3749040" cy="274320"/>
          </a:xfrm>
          <a:prstGeom prst="rect">
            <a:avLst/>
          </a:prstGeom>
          <a:noFill/>
          <a:ln/>
        </p:spPr>
        <p:txBody>
          <a:bodyPr wrap="square" rtlCol="0" anchor="ctr"/>
          <a:lstStyle/>
          <a:p>
            <a:pPr marL="0" indent="0">
              <a:buNone/>
            </a:pPr>
            <a:r>
              <a:rPr lang="en-US" sz="1100" b="1" kern="0" spc="300" dirty="0">
                <a:solidFill>
                  <a:srgbClr val="C99B2D"/>
                </a:solidFill>
                <a:latin typeface="Calibri" pitchFamily="34" charset="0"/>
                <a:ea typeface="Calibri" pitchFamily="34" charset="-122"/>
                <a:cs typeface="Calibri" pitchFamily="34" charset="-120"/>
              </a:rPr>
              <a:t>REAL-WORLD ANALOGY</a:t>
            </a:r>
            <a:endParaRPr lang="en-US" sz="1100" dirty="0"/>
          </a:p>
        </p:txBody>
      </p:sp>
      <p:sp>
        <p:nvSpPr>
          <p:cNvPr id="7" name="Text 5"/>
          <p:cNvSpPr/>
          <p:nvPr/>
        </p:nvSpPr>
        <p:spPr>
          <a:xfrm>
            <a:off x="7772400" y="1783080"/>
            <a:ext cx="3749040" cy="365760"/>
          </a:xfrm>
          <a:prstGeom prst="rect">
            <a:avLst/>
          </a:prstGeom>
          <a:noFill/>
          <a:ln/>
        </p:spPr>
        <p:txBody>
          <a:bodyPr wrap="square" rtlCol="0" anchor="ctr"/>
          <a:lstStyle/>
          <a:p>
            <a:pPr marL="0" indent="0">
              <a:buNone/>
            </a:pPr>
            <a:r>
              <a:rPr lang="en-US" sz="1600" b="1" dirty="0">
                <a:solidFill>
                  <a:srgbClr val="6B4D1B"/>
                </a:solidFill>
                <a:latin typeface="Calibri" pitchFamily="34" charset="0"/>
                <a:ea typeface="Calibri" pitchFamily="34" charset="-122"/>
                <a:cs typeface="Calibri" pitchFamily="34" charset="-120"/>
              </a:rPr>
              <a:t>C++ is a manual transmission</a:t>
            </a:r>
            <a:endParaRPr lang="en-US" sz="1600" dirty="0"/>
          </a:p>
        </p:txBody>
      </p:sp>
      <p:sp>
        <p:nvSpPr>
          <p:cNvPr id="8" name="Text 6"/>
          <p:cNvSpPr/>
          <p:nvPr/>
        </p:nvSpPr>
        <p:spPr>
          <a:xfrm>
            <a:off x="7772400" y="2148840"/>
            <a:ext cx="3749040" cy="1874520"/>
          </a:xfrm>
          <a:prstGeom prst="rect">
            <a:avLst/>
          </a:prstGeom>
          <a:noFill/>
          <a:ln/>
        </p:spPr>
        <p:txBody>
          <a:bodyPr wrap="square" rtlCol="0" anchor="t"/>
          <a:lstStyle/>
          <a:p>
            <a:pPr marL="0" indent="0">
              <a:buNone/>
            </a:pPr>
            <a:r>
              <a:rPr lang="en-US" sz="1300" dirty="0">
                <a:solidFill>
                  <a:srgbClr val="404040"/>
                </a:solidFill>
                <a:latin typeface="Calibri" pitchFamily="34" charset="0"/>
                <a:ea typeface="Calibri" pitchFamily="34" charset="-122"/>
                <a:cs typeface="Calibri" pitchFamily="34" charset="-120"/>
              </a:rPr>
              <a:t>Python or Java are automatics — easier, safer, slower for high-stakes work. C++ is a manual: more pedals to coordinate, but you can outrun anything when you know what you're doing.</a:t>
            </a:r>
            <a:endParaRPr lang="en-US" sz="1300" dirty="0"/>
          </a:p>
        </p:txBody>
      </p:sp>
      <p:sp>
        <p:nvSpPr>
          <p:cNvPr id="9" name="Text 7"/>
          <p:cNvSpPr/>
          <p:nvPr/>
        </p:nvSpPr>
        <p:spPr>
          <a:xfrm>
            <a:off x="7589520" y="4297680"/>
            <a:ext cx="4114800" cy="365760"/>
          </a:xfrm>
          <a:prstGeom prst="rect">
            <a:avLst/>
          </a:prstGeom>
          <a:noFill/>
          <a:ln/>
        </p:spPr>
        <p:txBody>
          <a:bodyPr wrap="square" rtlCol="0" anchor="ctr"/>
          <a:lstStyle/>
          <a:p>
            <a:pPr marL="0" indent="0">
              <a:buNone/>
            </a:pPr>
            <a:r>
              <a:rPr lang="en-US" sz="1300" b="1" dirty="0">
                <a:solidFill>
                  <a:srgbClr val="002060"/>
                </a:solidFill>
                <a:latin typeface="Calibri" pitchFamily="34" charset="0"/>
                <a:ea typeface="Calibri" pitchFamily="34" charset="-122"/>
                <a:cs typeface="Calibri" pitchFamily="34" charset="-120"/>
              </a:rPr>
              <a:t>Where you see C++ in production</a:t>
            </a:r>
            <a:endParaRPr lang="en-US" sz="1300" dirty="0"/>
          </a:p>
        </p:txBody>
      </p:sp>
      <p:sp>
        <p:nvSpPr>
          <p:cNvPr id="10" name="Text 8"/>
          <p:cNvSpPr/>
          <p:nvPr/>
        </p:nvSpPr>
        <p:spPr>
          <a:xfrm>
            <a:off x="7589520" y="4617720"/>
            <a:ext cx="4114800" cy="1463040"/>
          </a:xfrm>
          <a:prstGeom prst="rect">
            <a:avLst/>
          </a:prstGeom>
          <a:noFill/>
          <a:ln/>
        </p:spPr>
        <p:txBody>
          <a:bodyPr wrap="square" rtlCol="0" anchor="ctr"/>
          <a:lstStyle/>
          <a:p>
            <a:pPr marL="0" indent="0">
              <a:buNone/>
            </a:pPr>
            <a:r>
              <a:rPr lang="en-US" sz="1300" i="1" dirty="0">
                <a:solidFill>
                  <a:srgbClr val="404040"/>
                </a:solidFill>
                <a:latin typeface="Calibri" pitchFamily="34" charset="0"/>
                <a:ea typeface="Calibri" pitchFamily="34" charset="-122"/>
                <a:cs typeface="Calibri" pitchFamily="34" charset="-120"/>
              </a:rPr>
              <a:t>Chrome · Photoshop · MongoDB · Unreal Engine · Tesla Autopilot · Bloomberg Terminal · most of Windows.</a:t>
            </a:r>
            <a:endParaRPr lang="en-US" sz="13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C++ is a moving target — which version are we using?</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The language updates every three years. We target C++17 features, with optional C++20.</a:t>
            </a:r>
            <a:endParaRPr lang="en-US" sz="1400" dirty="0"/>
          </a:p>
        </p:txBody>
      </p:sp>
      <p:sp>
        <p:nvSpPr>
          <p:cNvPr id="5" name="Shape 3"/>
          <p:cNvSpPr/>
          <p:nvPr/>
        </p:nvSpPr>
        <p:spPr>
          <a:xfrm>
            <a:off x="457200" y="1463040"/>
            <a:ext cx="1371600" cy="502920"/>
          </a:xfrm>
          <a:prstGeom prst="rect">
            <a:avLst/>
          </a:prstGeom>
          <a:solidFill>
            <a:srgbClr val="C0C0C0"/>
          </a:solidFill>
          <a:ln/>
        </p:spPr>
        <p:txBody>
          <a:bodyPr/>
          <a:lstStyle/>
          <a:p>
            <a:endParaRPr lang="en-US"/>
          </a:p>
        </p:txBody>
      </p:sp>
      <p:sp>
        <p:nvSpPr>
          <p:cNvPr id="6" name="Text 4"/>
          <p:cNvSpPr/>
          <p:nvPr/>
        </p:nvSpPr>
        <p:spPr>
          <a:xfrm>
            <a:off x="457200" y="1463040"/>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C++98</a:t>
            </a:r>
            <a:endParaRPr lang="en-US" sz="1600" dirty="0"/>
          </a:p>
        </p:txBody>
      </p:sp>
      <p:sp>
        <p:nvSpPr>
          <p:cNvPr id="7" name="Text 5"/>
          <p:cNvSpPr/>
          <p:nvPr/>
        </p:nvSpPr>
        <p:spPr>
          <a:xfrm>
            <a:off x="1965960" y="1463040"/>
            <a:ext cx="914400" cy="50292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1998</a:t>
            </a:r>
            <a:endParaRPr lang="en-US" sz="1400" dirty="0"/>
          </a:p>
        </p:txBody>
      </p:sp>
      <p:sp>
        <p:nvSpPr>
          <p:cNvPr id="8" name="Text 6"/>
          <p:cNvSpPr/>
          <p:nvPr/>
        </p:nvSpPr>
        <p:spPr>
          <a:xfrm>
            <a:off x="3017520" y="1463040"/>
            <a:ext cx="868680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The original ISO standard. Basics + STL.</a:t>
            </a:r>
            <a:endParaRPr lang="en-US" sz="1300" dirty="0"/>
          </a:p>
        </p:txBody>
      </p:sp>
      <p:sp>
        <p:nvSpPr>
          <p:cNvPr id="9" name="Shape 7"/>
          <p:cNvSpPr/>
          <p:nvPr/>
        </p:nvSpPr>
        <p:spPr>
          <a:xfrm>
            <a:off x="457200" y="2121408"/>
            <a:ext cx="1371600" cy="502920"/>
          </a:xfrm>
          <a:prstGeom prst="rect">
            <a:avLst/>
          </a:prstGeom>
          <a:solidFill>
            <a:srgbClr val="6B98C2"/>
          </a:solidFill>
          <a:ln/>
        </p:spPr>
        <p:txBody>
          <a:bodyPr/>
          <a:lstStyle/>
          <a:p>
            <a:endParaRPr lang="en-US"/>
          </a:p>
        </p:txBody>
      </p:sp>
      <p:sp>
        <p:nvSpPr>
          <p:cNvPr id="10" name="Text 8"/>
          <p:cNvSpPr/>
          <p:nvPr/>
        </p:nvSpPr>
        <p:spPr>
          <a:xfrm>
            <a:off x="457200" y="2121408"/>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C++11</a:t>
            </a:r>
            <a:endParaRPr lang="en-US" sz="1600" dirty="0"/>
          </a:p>
        </p:txBody>
      </p:sp>
      <p:sp>
        <p:nvSpPr>
          <p:cNvPr id="11" name="Text 9"/>
          <p:cNvSpPr/>
          <p:nvPr/>
        </p:nvSpPr>
        <p:spPr>
          <a:xfrm>
            <a:off x="1965960" y="2121408"/>
            <a:ext cx="914400" cy="50292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2011</a:t>
            </a:r>
            <a:endParaRPr lang="en-US" sz="1400" dirty="0"/>
          </a:p>
        </p:txBody>
      </p:sp>
      <p:sp>
        <p:nvSpPr>
          <p:cNvPr id="12" name="Text 10"/>
          <p:cNvSpPr/>
          <p:nvPr/>
        </p:nvSpPr>
        <p:spPr>
          <a:xfrm>
            <a:off x="3017520" y="2121408"/>
            <a:ext cx="868680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Game-changer: auto, lambdas, nullptr, smart pointers, move semantics, threads.</a:t>
            </a:r>
            <a:endParaRPr lang="en-US" sz="1300" dirty="0"/>
          </a:p>
        </p:txBody>
      </p:sp>
      <p:sp>
        <p:nvSpPr>
          <p:cNvPr id="13" name="Shape 11"/>
          <p:cNvSpPr/>
          <p:nvPr/>
        </p:nvSpPr>
        <p:spPr>
          <a:xfrm>
            <a:off x="457200" y="2779776"/>
            <a:ext cx="1371600" cy="502920"/>
          </a:xfrm>
          <a:prstGeom prst="rect">
            <a:avLst/>
          </a:prstGeom>
          <a:solidFill>
            <a:srgbClr val="5485B0"/>
          </a:solidFill>
          <a:ln/>
        </p:spPr>
        <p:txBody>
          <a:bodyPr/>
          <a:lstStyle/>
          <a:p>
            <a:endParaRPr lang="en-US"/>
          </a:p>
        </p:txBody>
      </p:sp>
      <p:sp>
        <p:nvSpPr>
          <p:cNvPr id="14" name="Text 12"/>
          <p:cNvSpPr/>
          <p:nvPr/>
        </p:nvSpPr>
        <p:spPr>
          <a:xfrm>
            <a:off x="457200" y="2779776"/>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C++14</a:t>
            </a:r>
            <a:endParaRPr lang="en-US" sz="1600" dirty="0"/>
          </a:p>
        </p:txBody>
      </p:sp>
      <p:sp>
        <p:nvSpPr>
          <p:cNvPr id="15" name="Text 13"/>
          <p:cNvSpPr/>
          <p:nvPr/>
        </p:nvSpPr>
        <p:spPr>
          <a:xfrm>
            <a:off x="1965960" y="2779776"/>
            <a:ext cx="914400" cy="50292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2014</a:t>
            </a:r>
            <a:endParaRPr lang="en-US" sz="1400" dirty="0"/>
          </a:p>
        </p:txBody>
      </p:sp>
      <p:sp>
        <p:nvSpPr>
          <p:cNvPr id="16" name="Text 14"/>
          <p:cNvSpPr/>
          <p:nvPr/>
        </p:nvSpPr>
        <p:spPr>
          <a:xfrm>
            <a:off x="3017520" y="2779776"/>
            <a:ext cx="868680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Polish on C++11 — generic lambdas, return type deduction.</a:t>
            </a:r>
            <a:endParaRPr lang="en-US" sz="1300" dirty="0"/>
          </a:p>
        </p:txBody>
      </p:sp>
      <p:sp>
        <p:nvSpPr>
          <p:cNvPr id="17" name="Shape 15"/>
          <p:cNvSpPr/>
          <p:nvPr/>
        </p:nvSpPr>
        <p:spPr>
          <a:xfrm>
            <a:off x="457200" y="3438144"/>
            <a:ext cx="1371600" cy="502920"/>
          </a:xfrm>
          <a:prstGeom prst="rect">
            <a:avLst/>
          </a:prstGeom>
          <a:solidFill>
            <a:srgbClr val="C00000"/>
          </a:solidFill>
          <a:ln/>
        </p:spPr>
        <p:txBody>
          <a:bodyPr/>
          <a:lstStyle/>
          <a:p>
            <a:endParaRPr lang="en-US"/>
          </a:p>
        </p:txBody>
      </p:sp>
      <p:sp>
        <p:nvSpPr>
          <p:cNvPr id="18" name="Text 16"/>
          <p:cNvSpPr/>
          <p:nvPr/>
        </p:nvSpPr>
        <p:spPr>
          <a:xfrm>
            <a:off x="457200" y="3438144"/>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C++17</a:t>
            </a:r>
            <a:endParaRPr lang="en-US" sz="1600" dirty="0"/>
          </a:p>
        </p:txBody>
      </p:sp>
      <p:sp>
        <p:nvSpPr>
          <p:cNvPr id="19" name="Text 17"/>
          <p:cNvSpPr/>
          <p:nvPr/>
        </p:nvSpPr>
        <p:spPr>
          <a:xfrm>
            <a:off x="1965960" y="3438144"/>
            <a:ext cx="914400" cy="502920"/>
          </a:xfrm>
          <a:prstGeom prst="rect">
            <a:avLst/>
          </a:prstGeom>
          <a:noFill/>
          <a:ln/>
        </p:spPr>
        <p:txBody>
          <a:bodyPr wrap="square" rtlCol="0" anchor="ctr"/>
          <a:lstStyle/>
          <a:p>
            <a:pPr marL="0" indent="0">
              <a:buNone/>
            </a:pPr>
            <a:r>
              <a:rPr lang="en-US" sz="1400" b="1" dirty="0">
                <a:solidFill>
                  <a:srgbClr val="404040"/>
                </a:solidFill>
                <a:latin typeface="Calibri" pitchFamily="34" charset="0"/>
                <a:ea typeface="Calibri" pitchFamily="34" charset="-122"/>
                <a:cs typeface="Calibri" pitchFamily="34" charset="-120"/>
              </a:rPr>
              <a:t>2017</a:t>
            </a:r>
            <a:endParaRPr lang="en-US" sz="1400" dirty="0"/>
          </a:p>
        </p:txBody>
      </p:sp>
      <p:sp>
        <p:nvSpPr>
          <p:cNvPr id="20" name="Text 18"/>
          <p:cNvSpPr/>
          <p:nvPr/>
        </p:nvSpPr>
        <p:spPr>
          <a:xfrm>
            <a:off x="3017520" y="3438144"/>
            <a:ext cx="8686800" cy="502920"/>
          </a:xfrm>
          <a:prstGeom prst="rect">
            <a:avLst/>
          </a:prstGeom>
          <a:noFill/>
          <a:ln/>
        </p:spPr>
        <p:txBody>
          <a:bodyPr wrap="square" rtlCol="0" anchor="ctr"/>
          <a:lstStyle/>
          <a:p>
            <a:pPr marL="0" indent="0">
              <a:buNone/>
            </a:pPr>
            <a:r>
              <a:rPr lang="en-US" sz="1300" b="1" dirty="0">
                <a:solidFill>
                  <a:srgbClr val="C00000"/>
                </a:solidFill>
                <a:latin typeface="Calibri" pitchFamily="34" charset="0"/>
                <a:ea typeface="Calibri" pitchFamily="34" charset="-122"/>
                <a:cs typeface="Calibri" pitchFamily="34" charset="-120"/>
              </a:rPr>
              <a:t>Structured bindings, std::optional, std::variant, parallel STL algorithms. ← OUR BASELINE.</a:t>
            </a:r>
            <a:endParaRPr lang="en-US" sz="1300" dirty="0"/>
          </a:p>
        </p:txBody>
      </p:sp>
      <p:sp>
        <p:nvSpPr>
          <p:cNvPr id="21" name="Shape 19"/>
          <p:cNvSpPr/>
          <p:nvPr/>
        </p:nvSpPr>
        <p:spPr>
          <a:xfrm>
            <a:off x="457200" y="4096512"/>
            <a:ext cx="1371600" cy="502920"/>
          </a:xfrm>
          <a:prstGeom prst="rect">
            <a:avLst/>
          </a:prstGeom>
          <a:solidFill>
            <a:srgbClr val="002060"/>
          </a:solidFill>
          <a:ln/>
        </p:spPr>
        <p:txBody>
          <a:bodyPr/>
          <a:lstStyle/>
          <a:p>
            <a:endParaRPr lang="en-US"/>
          </a:p>
        </p:txBody>
      </p:sp>
      <p:sp>
        <p:nvSpPr>
          <p:cNvPr id="22" name="Text 20"/>
          <p:cNvSpPr/>
          <p:nvPr/>
        </p:nvSpPr>
        <p:spPr>
          <a:xfrm>
            <a:off x="457200" y="4096512"/>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C++20</a:t>
            </a:r>
            <a:endParaRPr lang="en-US" sz="1600" dirty="0"/>
          </a:p>
        </p:txBody>
      </p:sp>
      <p:sp>
        <p:nvSpPr>
          <p:cNvPr id="23" name="Text 21"/>
          <p:cNvSpPr/>
          <p:nvPr/>
        </p:nvSpPr>
        <p:spPr>
          <a:xfrm>
            <a:off x="1965960" y="4096512"/>
            <a:ext cx="914400" cy="50292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2020</a:t>
            </a:r>
            <a:endParaRPr lang="en-US" sz="1400" dirty="0"/>
          </a:p>
        </p:txBody>
      </p:sp>
      <p:sp>
        <p:nvSpPr>
          <p:cNvPr id="24" name="Text 22"/>
          <p:cNvSpPr/>
          <p:nvPr/>
        </p:nvSpPr>
        <p:spPr>
          <a:xfrm>
            <a:off x="3017520" y="4096512"/>
            <a:ext cx="868680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Concepts, ranges, coroutines, modules. We will touch concepts informally.</a:t>
            </a:r>
            <a:endParaRPr lang="en-US" sz="1300" dirty="0"/>
          </a:p>
        </p:txBody>
      </p:sp>
      <p:sp>
        <p:nvSpPr>
          <p:cNvPr id="25" name="Shape 23"/>
          <p:cNvSpPr/>
          <p:nvPr/>
        </p:nvSpPr>
        <p:spPr>
          <a:xfrm>
            <a:off x="457200" y="4754880"/>
            <a:ext cx="1371600" cy="502920"/>
          </a:xfrm>
          <a:prstGeom prst="rect">
            <a:avLst/>
          </a:prstGeom>
          <a:solidFill>
            <a:srgbClr val="8C8C8C"/>
          </a:solidFill>
          <a:ln/>
        </p:spPr>
        <p:txBody>
          <a:bodyPr/>
          <a:lstStyle/>
          <a:p>
            <a:endParaRPr lang="en-US"/>
          </a:p>
        </p:txBody>
      </p:sp>
      <p:sp>
        <p:nvSpPr>
          <p:cNvPr id="26" name="Text 24"/>
          <p:cNvSpPr/>
          <p:nvPr/>
        </p:nvSpPr>
        <p:spPr>
          <a:xfrm>
            <a:off x="457200" y="4754880"/>
            <a:ext cx="13716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C++23</a:t>
            </a:r>
            <a:endParaRPr lang="en-US" sz="1600" dirty="0"/>
          </a:p>
        </p:txBody>
      </p:sp>
      <p:sp>
        <p:nvSpPr>
          <p:cNvPr id="27" name="Text 25"/>
          <p:cNvSpPr/>
          <p:nvPr/>
        </p:nvSpPr>
        <p:spPr>
          <a:xfrm>
            <a:off x="1965960" y="4754880"/>
            <a:ext cx="914400" cy="50292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2024</a:t>
            </a:r>
            <a:endParaRPr lang="en-US" sz="1400" dirty="0"/>
          </a:p>
        </p:txBody>
      </p:sp>
      <p:sp>
        <p:nvSpPr>
          <p:cNvPr id="28" name="Text 26"/>
          <p:cNvSpPr/>
          <p:nvPr/>
        </p:nvSpPr>
        <p:spPr>
          <a:xfrm>
            <a:off x="3017520" y="4754880"/>
            <a:ext cx="8686800" cy="50292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Refinements. Mention only — your compilers may not support everything yet.</a:t>
            </a:r>
            <a:endParaRPr lang="en-US" sz="1300" dirty="0"/>
          </a:p>
        </p:txBody>
      </p:sp>
      <p:sp>
        <p:nvSpPr>
          <p:cNvPr id="29"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Anatomy of a C++ program</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7772400" cy="475488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7406640" cy="4480560"/>
          </a:xfrm>
          <a:prstGeom prst="rect">
            <a:avLst/>
          </a:prstGeom>
          <a:noFill/>
          <a:ln/>
        </p:spPr>
        <p:txBody>
          <a:bodyPr wrap="square" rtlCol="0" anchor="t"/>
          <a:lstStyle/>
          <a:p>
            <a:pPr marL="0" indent="0">
              <a:buNone/>
            </a:pPr>
            <a:r>
              <a:rPr lang="en-US" sz="1300" dirty="0">
                <a:solidFill>
                  <a:srgbClr val="1F2937"/>
                </a:solidFill>
                <a:latin typeface="Courier New" pitchFamily="34" charset="0"/>
                <a:ea typeface="Courier New" pitchFamily="34" charset="-122"/>
                <a:cs typeface="Courier New" pitchFamily="34" charset="-120"/>
              </a:rPr>
              <a:t>// hello.cpp  — a single translation unit</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#include &lt;iostream&gt;          // header — preprocessor pulls it in</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#include &lt;string&gt;            // standard string facilities</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Function declaration (a.k.a. prototype) — what to expect, no body</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void greet(const std::string&amp; who);</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Function definition — the actual body</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void greet(const std::string&amp; who) {</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std::cout &lt;&lt; "Hello, " &lt;&lt; who &lt;&lt; "!\n";</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main() {                 // entry point — exactly ONE per program</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greet("OOP345");</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return 0;                // 0 = success, anything else = failure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t>
            </a:r>
            <a:endParaRPr lang="en-US" sz="1300" dirty="0"/>
          </a:p>
        </p:txBody>
      </p:sp>
      <p:sp>
        <p:nvSpPr>
          <p:cNvPr id="6" name="Text 4"/>
          <p:cNvSpPr/>
          <p:nvPr/>
        </p:nvSpPr>
        <p:spPr>
          <a:xfrm>
            <a:off x="8412480" y="1371600"/>
            <a:ext cx="3474720" cy="365760"/>
          </a:xfrm>
          <a:prstGeom prst="rect">
            <a:avLst/>
          </a:prstGeom>
          <a:noFill/>
          <a:ln/>
        </p:spPr>
        <p:txBody>
          <a:bodyPr wrap="square"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Five things to notice</a:t>
            </a:r>
            <a:endParaRPr lang="en-US" sz="1600" dirty="0"/>
          </a:p>
        </p:txBody>
      </p:sp>
      <p:sp>
        <p:nvSpPr>
          <p:cNvPr id="7" name="Text 5"/>
          <p:cNvSpPr/>
          <p:nvPr/>
        </p:nvSpPr>
        <p:spPr>
          <a:xfrm>
            <a:off x="8412480" y="1828800"/>
            <a:ext cx="3474720" cy="4297680"/>
          </a:xfrm>
          <a:prstGeom prst="rect">
            <a:avLst/>
          </a:prstGeom>
          <a:noFill/>
          <a:ln/>
        </p:spPr>
        <p:txBody>
          <a:bodyPr wrap="square" rtlCol="0" anchor="t"/>
          <a:lstStyle/>
          <a:p>
            <a:pPr marL="0" indent="0">
              <a:spcAft>
                <a:spcPts val="800"/>
              </a:spcAft>
              <a:buNone/>
            </a:pPr>
            <a:r>
              <a:rPr lang="en-US" sz="1200" dirty="0">
                <a:solidFill>
                  <a:srgbClr val="404040"/>
                </a:solidFill>
                <a:latin typeface="Calibri" pitchFamily="34" charset="0"/>
                <a:ea typeface="Calibri" pitchFamily="34" charset="-122"/>
                <a:cs typeface="Calibri" pitchFamily="34" charset="-120"/>
              </a:rPr>
              <a:t>// — single-line comment.  /* … */ — multi-line.</a:t>
            </a:r>
            <a:endParaRPr lang="en-US" sz="1200" dirty="0"/>
          </a:p>
          <a:p>
            <a:pPr marL="0" indent="0">
              <a:spcAft>
                <a:spcPts val="800"/>
              </a:spcAft>
              <a:buNone/>
            </a:pPr>
            <a:r>
              <a:rPr lang="en-US" sz="1200" dirty="0">
                <a:solidFill>
                  <a:srgbClr val="404040"/>
                </a:solidFill>
                <a:latin typeface="Calibri" pitchFamily="34" charset="0"/>
                <a:ea typeface="Calibri" pitchFamily="34" charset="-122"/>
                <a:cs typeface="Calibri" pitchFamily="34" charset="-120"/>
              </a:rPr>
              <a:t>#include — preprocessor directive; not a C++ statement.</a:t>
            </a:r>
            <a:endParaRPr lang="en-US" sz="1200" dirty="0"/>
          </a:p>
          <a:p>
            <a:pPr marL="0" indent="0">
              <a:spcAft>
                <a:spcPts val="800"/>
              </a:spcAft>
              <a:buNone/>
            </a:pPr>
            <a:r>
              <a:rPr lang="en-US" sz="1200" dirty="0">
                <a:solidFill>
                  <a:srgbClr val="404040"/>
                </a:solidFill>
                <a:latin typeface="Calibri" pitchFamily="34" charset="0"/>
                <a:ea typeface="Calibri" pitchFamily="34" charset="-122"/>
                <a:cs typeface="Calibri" pitchFamily="34" charset="-120"/>
              </a:rPr>
              <a:t>Declarations declare; definitions provide bodies.</a:t>
            </a:r>
            <a:endParaRPr lang="en-US" sz="1200" dirty="0"/>
          </a:p>
          <a:p>
            <a:pPr marL="0" indent="0">
              <a:spcAft>
                <a:spcPts val="800"/>
              </a:spcAft>
              <a:buNone/>
            </a:pPr>
            <a:r>
              <a:rPr lang="en-US" sz="1200" dirty="0">
                <a:solidFill>
                  <a:srgbClr val="404040"/>
                </a:solidFill>
                <a:latin typeface="Calibri" pitchFamily="34" charset="0"/>
                <a:ea typeface="Calibri" pitchFamily="34" charset="-122"/>
                <a:cs typeface="Calibri" pitchFamily="34" charset="-120"/>
              </a:rPr>
              <a:t>std::  prefix — names from the standard library.</a:t>
            </a:r>
            <a:endParaRPr lang="en-US" sz="1200" dirty="0"/>
          </a:p>
          <a:p>
            <a:pPr marL="0" indent="0">
              <a:buNone/>
            </a:pPr>
            <a:r>
              <a:rPr lang="en-US" sz="1200" dirty="0">
                <a:solidFill>
                  <a:srgbClr val="404040"/>
                </a:solidFill>
                <a:latin typeface="Calibri" pitchFamily="34" charset="0"/>
                <a:ea typeface="Calibri" pitchFamily="34" charset="-122"/>
                <a:cs typeface="Calibri" pitchFamily="34" charset="-120"/>
              </a:rPr>
              <a:t>main returns int — the OS reads the value.</a:t>
            </a:r>
            <a:endParaRPr lang="en-US" sz="1200" dirty="0"/>
          </a:p>
        </p:txBody>
      </p:sp>
      <p:sp>
        <p:nvSpPr>
          <p:cNvPr id="8" name="Shape 6"/>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9" name="Text 7"/>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§2</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From source code to running process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463040"/>
            <a:ext cx="2103120" cy="914400"/>
          </a:xfrm>
          <a:prstGeom prst="rect">
            <a:avLst/>
          </a:prstGeom>
          <a:solidFill>
            <a:srgbClr val="002060"/>
          </a:solidFill>
          <a:ln/>
        </p:spPr>
        <p:txBody>
          <a:bodyPr/>
          <a:lstStyle/>
          <a:p>
            <a:endParaRPr lang="en-US"/>
          </a:p>
        </p:txBody>
      </p:sp>
      <p:sp>
        <p:nvSpPr>
          <p:cNvPr id="5" name="Text 3"/>
          <p:cNvSpPr/>
          <p:nvPr/>
        </p:nvSpPr>
        <p:spPr>
          <a:xfrm>
            <a:off x="548640" y="150876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Preprocess</a:t>
            </a:r>
            <a:endParaRPr lang="en-US" sz="1400" dirty="0"/>
          </a:p>
        </p:txBody>
      </p:sp>
      <p:sp>
        <p:nvSpPr>
          <p:cNvPr id="6" name="Text 4"/>
          <p:cNvSpPr/>
          <p:nvPr/>
        </p:nvSpPr>
        <p:spPr>
          <a:xfrm>
            <a:off x="548640" y="1874520"/>
            <a:ext cx="1920240" cy="45720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Expand #include, macros</a:t>
            </a:r>
            <a:endParaRPr lang="en-US" sz="1100" dirty="0"/>
          </a:p>
        </p:txBody>
      </p:sp>
      <p:sp>
        <p:nvSpPr>
          <p:cNvPr id="7" name="Shape 5"/>
          <p:cNvSpPr/>
          <p:nvPr/>
        </p:nvSpPr>
        <p:spPr>
          <a:xfrm>
            <a:off x="2560320" y="1783080"/>
            <a:ext cx="164592" cy="292608"/>
          </a:xfrm>
          <a:prstGeom prst="line">
            <a:avLst/>
          </a:prstGeom>
          <a:solidFill>
            <a:srgbClr val="C00000"/>
          </a:solidFill>
          <a:ln/>
        </p:spPr>
        <p:txBody>
          <a:bodyPr/>
          <a:lstStyle/>
          <a:p>
            <a:endParaRPr lang="en-US"/>
          </a:p>
        </p:txBody>
      </p:sp>
      <p:sp>
        <p:nvSpPr>
          <p:cNvPr id="8" name="Shape 6"/>
          <p:cNvSpPr/>
          <p:nvPr/>
        </p:nvSpPr>
        <p:spPr>
          <a:xfrm>
            <a:off x="2743200" y="1463040"/>
            <a:ext cx="2103120" cy="914400"/>
          </a:xfrm>
          <a:prstGeom prst="rect">
            <a:avLst/>
          </a:prstGeom>
          <a:solidFill>
            <a:srgbClr val="002060"/>
          </a:solidFill>
          <a:ln/>
        </p:spPr>
        <p:txBody>
          <a:bodyPr/>
          <a:lstStyle/>
          <a:p>
            <a:endParaRPr lang="en-US"/>
          </a:p>
        </p:txBody>
      </p:sp>
      <p:sp>
        <p:nvSpPr>
          <p:cNvPr id="9" name="Text 7"/>
          <p:cNvSpPr/>
          <p:nvPr/>
        </p:nvSpPr>
        <p:spPr>
          <a:xfrm>
            <a:off x="2834640" y="150876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Compile</a:t>
            </a:r>
            <a:endParaRPr lang="en-US" sz="1400" dirty="0"/>
          </a:p>
        </p:txBody>
      </p:sp>
      <p:sp>
        <p:nvSpPr>
          <p:cNvPr id="10" name="Text 8"/>
          <p:cNvSpPr/>
          <p:nvPr/>
        </p:nvSpPr>
        <p:spPr>
          <a:xfrm>
            <a:off x="2834640" y="1874520"/>
            <a:ext cx="1920240" cy="45720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Source → assembly</a:t>
            </a:r>
            <a:endParaRPr lang="en-US" sz="1100" dirty="0"/>
          </a:p>
        </p:txBody>
      </p:sp>
      <p:sp>
        <p:nvSpPr>
          <p:cNvPr id="11" name="Shape 9"/>
          <p:cNvSpPr/>
          <p:nvPr/>
        </p:nvSpPr>
        <p:spPr>
          <a:xfrm>
            <a:off x="4846320" y="1783080"/>
            <a:ext cx="164592" cy="292608"/>
          </a:xfrm>
          <a:prstGeom prst="line">
            <a:avLst/>
          </a:prstGeom>
          <a:solidFill>
            <a:srgbClr val="C00000"/>
          </a:solidFill>
          <a:ln/>
        </p:spPr>
        <p:txBody>
          <a:bodyPr/>
          <a:lstStyle/>
          <a:p>
            <a:endParaRPr lang="en-US"/>
          </a:p>
        </p:txBody>
      </p:sp>
      <p:sp>
        <p:nvSpPr>
          <p:cNvPr id="12" name="Shape 10"/>
          <p:cNvSpPr/>
          <p:nvPr/>
        </p:nvSpPr>
        <p:spPr>
          <a:xfrm>
            <a:off x="5029200" y="1463040"/>
            <a:ext cx="2103120" cy="914400"/>
          </a:xfrm>
          <a:prstGeom prst="rect">
            <a:avLst/>
          </a:prstGeom>
          <a:solidFill>
            <a:srgbClr val="002060"/>
          </a:solidFill>
          <a:ln/>
        </p:spPr>
        <p:txBody>
          <a:bodyPr/>
          <a:lstStyle/>
          <a:p>
            <a:endParaRPr lang="en-US"/>
          </a:p>
        </p:txBody>
      </p:sp>
      <p:sp>
        <p:nvSpPr>
          <p:cNvPr id="13" name="Text 11"/>
          <p:cNvSpPr/>
          <p:nvPr/>
        </p:nvSpPr>
        <p:spPr>
          <a:xfrm>
            <a:off x="5120640" y="150876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Assemble</a:t>
            </a:r>
            <a:endParaRPr lang="en-US" sz="1400" dirty="0"/>
          </a:p>
        </p:txBody>
      </p:sp>
      <p:sp>
        <p:nvSpPr>
          <p:cNvPr id="14" name="Text 12"/>
          <p:cNvSpPr/>
          <p:nvPr/>
        </p:nvSpPr>
        <p:spPr>
          <a:xfrm>
            <a:off x="5120640" y="1874520"/>
            <a:ext cx="1920240" cy="45720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Assembly → object (.o)</a:t>
            </a:r>
            <a:endParaRPr lang="en-US" sz="1100" dirty="0"/>
          </a:p>
        </p:txBody>
      </p:sp>
      <p:sp>
        <p:nvSpPr>
          <p:cNvPr id="15" name="Shape 13"/>
          <p:cNvSpPr/>
          <p:nvPr/>
        </p:nvSpPr>
        <p:spPr>
          <a:xfrm>
            <a:off x="7132320" y="1783080"/>
            <a:ext cx="164592" cy="292608"/>
          </a:xfrm>
          <a:prstGeom prst="line">
            <a:avLst/>
          </a:prstGeom>
          <a:solidFill>
            <a:srgbClr val="C00000"/>
          </a:solidFill>
          <a:ln/>
        </p:spPr>
        <p:txBody>
          <a:bodyPr/>
          <a:lstStyle/>
          <a:p>
            <a:endParaRPr lang="en-US"/>
          </a:p>
        </p:txBody>
      </p:sp>
      <p:sp>
        <p:nvSpPr>
          <p:cNvPr id="16" name="Shape 14"/>
          <p:cNvSpPr/>
          <p:nvPr/>
        </p:nvSpPr>
        <p:spPr>
          <a:xfrm>
            <a:off x="7315200" y="1463040"/>
            <a:ext cx="2103120" cy="914400"/>
          </a:xfrm>
          <a:prstGeom prst="rect">
            <a:avLst/>
          </a:prstGeom>
          <a:solidFill>
            <a:srgbClr val="002060"/>
          </a:solidFill>
          <a:ln/>
        </p:spPr>
        <p:txBody>
          <a:bodyPr/>
          <a:lstStyle/>
          <a:p>
            <a:endParaRPr lang="en-US"/>
          </a:p>
        </p:txBody>
      </p:sp>
      <p:sp>
        <p:nvSpPr>
          <p:cNvPr id="17" name="Text 15"/>
          <p:cNvSpPr/>
          <p:nvPr/>
        </p:nvSpPr>
        <p:spPr>
          <a:xfrm>
            <a:off x="7406640" y="150876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Link</a:t>
            </a:r>
            <a:endParaRPr lang="en-US" sz="1400" dirty="0"/>
          </a:p>
        </p:txBody>
      </p:sp>
      <p:sp>
        <p:nvSpPr>
          <p:cNvPr id="18" name="Text 16"/>
          <p:cNvSpPr/>
          <p:nvPr/>
        </p:nvSpPr>
        <p:spPr>
          <a:xfrm>
            <a:off x="7406640" y="1874520"/>
            <a:ext cx="1920240" cy="45720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Objects + libs → exe</a:t>
            </a:r>
            <a:endParaRPr lang="en-US" sz="1100" dirty="0"/>
          </a:p>
        </p:txBody>
      </p:sp>
      <p:sp>
        <p:nvSpPr>
          <p:cNvPr id="19" name="Shape 17"/>
          <p:cNvSpPr/>
          <p:nvPr/>
        </p:nvSpPr>
        <p:spPr>
          <a:xfrm>
            <a:off x="9418320" y="1783080"/>
            <a:ext cx="164592" cy="292608"/>
          </a:xfrm>
          <a:prstGeom prst="line">
            <a:avLst/>
          </a:prstGeom>
          <a:solidFill>
            <a:srgbClr val="C00000"/>
          </a:solidFill>
          <a:ln/>
        </p:spPr>
        <p:txBody>
          <a:bodyPr/>
          <a:lstStyle/>
          <a:p>
            <a:endParaRPr lang="en-US"/>
          </a:p>
        </p:txBody>
      </p:sp>
      <p:sp>
        <p:nvSpPr>
          <p:cNvPr id="20" name="Shape 18"/>
          <p:cNvSpPr/>
          <p:nvPr/>
        </p:nvSpPr>
        <p:spPr>
          <a:xfrm>
            <a:off x="9601200" y="1463040"/>
            <a:ext cx="2103120" cy="914400"/>
          </a:xfrm>
          <a:prstGeom prst="rect">
            <a:avLst/>
          </a:prstGeom>
          <a:solidFill>
            <a:srgbClr val="002060"/>
          </a:solidFill>
          <a:ln/>
        </p:spPr>
        <p:txBody>
          <a:bodyPr/>
          <a:lstStyle/>
          <a:p>
            <a:endParaRPr lang="en-US"/>
          </a:p>
        </p:txBody>
      </p:sp>
      <p:sp>
        <p:nvSpPr>
          <p:cNvPr id="21" name="Text 19"/>
          <p:cNvSpPr/>
          <p:nvPr/>
        </p:nvSpPr>
        <p:spPr>
          <a:xfrm>
            <a:off x="9692640" y="150876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Load &amp; Run</a:t>
            </a:r>
            <a:endParaRPr lang="en-US" sz="1400" dirty="0"/>
          </a:p>
        </p:txBody>
      </p:sp>
      <p:sp>
        <p:nvSpPr>
          <p:cNvPr id="22" name="Text 20"/>
          <p:cNvSpPr/>
          <p:nvPr/>
        </p:nvSpPr>
        <p:spPr>
          <a:xfrm>
            <a:off x="9692640" y="1874520"/>
            <a:ext cx="1920240" cy="45720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OS loads exe into RAM</a:t>
            </a:r>
            <a:endParaRPr lang="en-US" sz="1100" dirty="0"/>
          </a:p>
        </p:txBody>
      </p:sp>
      <p:sp>
        <p:nvSpPr>
          <p:cNvPr id="23" name="Text 21"/>
          <p:cNvSpPr/>
          <p:nvPr/>
        </p:nvSpPr>
        <p:spPr>
          <a:xfrm>
            <a:off x="457200" y="2834640"/>
            <a:ext cx="10972800" cy="365760"/>
          </a:xfrm>
          <a:prstGeom prst="rect">
            <a:avLst/>
          </a:prstGeom>
          <a:noFill/>
          <a:ln/>
        </p:spPr>
        <p:txBody>
          <a:bodyPr wrap="square" rtlCol="0" anchor="ctr"/>
          <a:lstStyle/>
          <a:p>
            <a:pPr marL="0" indent="0">
              <a:buNone/>
            </a:pPr>
            <a:r>
              <a:rPr lang="en-US" sz="1800" b="1" dirty="0">
                <a:solidFill>
                  <a:srgbClr val="C00000"/>
                </a:solidFill>
                <a:latin typeface="Calibri" pitchFamily="34" charset="0"/>
                <a:ea typeface="Calibri" pitchFamily="34" charset="-122"/>
                <a:cs typeface="Calibri" pitchFamily="34" charset="-120"/>
              </a:rPr>
              <a:t>What this means for you as a developer</a:t>
            </a:r>
            <a:endParaRPr lang="en-US" sz="1800" dirty="0"/>
          </a:p>
        </p:txBody>
      </p:sp>
      <p:sp>
        <p:nvSpPr>
          <p:cNvPr id="24" name="Text 22"/>
          <p:cNvSpPr/>
          <p:nvPr/>
        </p:nvSpPr>
        <p:spPr>
          <a:xfrm>
            <a:off x="457200" y="3246120"/>
            <a:ext cx="11247120" cy="2926080"/>
          </a:xfrm>
          <a:prstGeom prst="rect">
            <a:avLst/>
          </a:prstGeom>
          <a:noFill/>
          <a:ln/>
        </p:spPr>
        <p:txBody>
          <a:bodyPr wrap="square" rtlCol="0" anchor="t"/>
          <a:lstStyle/>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A compile error is never "random." The stage tells you what to fix.</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Header files are not magic — the preprocessor literally pastes their contents into your source. That's why include guards exist.</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A linker error ("undefined reference to…") means the function was declared but its body was never compiled or linked in.</a:t>
            </a:r>
            <a:endParaRPr lang="en-US" sz="1500" dirty="0"/>
          </a:p>
          <a:p>
            <a:pPr marL="342900" indent="-342900">
              <a:buSzPct val="100000"/>
              <a:buChar char="■"/>
            </a:pPr>
            <a:r>
              <a:rPr lang="en-US" sz="1500" dirty="0">
                <a:solidFill>
                  <a:srgbClr val="404040"/>
                </a:solidFill>
                <a:latin typeface="Calibri" pitchFamily="34" charset="0"/>
                <a:ea typeface="Calibri" pitchFamily="34" charset="-122"/>
                <a:cs typeface="Calibri" pitchFamily="34" charset="-120"/>
              </a:rPr>
              <a:t>Once linked, your .exe is a complete artifact — runs without your IDE, without your source code.</a:t>
            </a:r>
            <a:endParaRPr lang="en-US" sz="15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Header files &amp; include guards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Two files, one binary — why headers and source files split the work</a:t>
            </a:r>
            <a:endParaRPr lang="en-US" sz="1400" dirty="0"/>
          </a:p>
        </p:txBody>
      </p:sp>
      <p:sp>
        <p:nvSpPr>
          <p:cNvPr id="5" name="Shape 3"/>
          <p:cNvSpPr/>
          <p:nvPr/>
        </p:nvSpPr>
        <p:spPr>
          <a:xfrm>
            <a:off x="457200" y="1371600"/>
            <a:ext cx="11247120" cy="4572000"/>
          </a:xfrm>
          <a:prstGeom prst="rect">
            <a:avLst/>
          </a:prstGeom>
          <a:solidFill>
            <a:srgbClr val="F4F4F4"/>
          </a:solidFill>
          <a:ln w="9525">
            <a:solidFill>
              <a:srgbClr val="D9D9D9"/>
            </a:solidFill>
            <a:prstDash val="solid"/>
          </a:ln>
        </p:spPr>
        <p:txBody>
          <a:bodyPr/>
          <a:lstStyle/>
          <a:p>
            <a:endParaRPr lang="en-US"/>
          </a:p>
        </p:txBody>
      </p:sp>
      <p:sp>
        <p:nvSpPr>
          <p:cNvPr id="6" name="Text 4"/>
          <p:cNvSpPr/>
          <p:nvPr/>
        </p:nvSpPr>
        <p:spPr>
          <a:xfrm>
            <a:off x="640080" y="1508760"/>
            <a:ext cx="10881360" cy="4297680"/>
          </a:xfrm>
          <a:prstGeom prst="rect">
            <a:avLst/>
          </a:prstGeom>
          <a:noFill/>
          <a:ln/>
        </p:spPr>
        <p:txBody>
          <a:bodyPr wrap="square" rtlCol="0" anchor="t"/>
          <a:lstStyle/>
          <a:p>
            <a:pPr marL="0" indent="0">
              <a:buNone/>
            </a:pPr>
            <a:r>
              <a:rPr lang="en-US" sz="1200" dirty="0">
                <a:solidFill>
                  <a:srgbClr val="1F2937"/>
                </a:solidFill>
                <a:latin typeface="Courier New" pitchFamily="34" charset="0"/>
                <a:ea typeface="Courier New" pitchFamily="34" charset="-122"/>
                <a:cs typeface="Courier New" pitchFamily="34" charset="-120"/>
              </a:rPr>
              <a:t>// utils.h  — the DECLARATIONS</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#ifndef UTILS_H                  // include guard: open</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#define UTILS_H</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int  add(int a, int b);          // prototype only — no body</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void greet(const std::string&amp; who);</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#endif                            // include guard: close</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utils.cpp — the DEFINITIONS</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#include "utils.h"</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#include &lt;iostream&gt;</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int add(int a, int b) { return a + b; }</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void greet(const std::string&amp; who) {</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std::cout &lt;&lt; "Hello, " &lt;&lt; who &lt;&lt; "!\n";</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035040"/>
            <a:ext cx="8229600" cy="54864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Without the include guard, including utils.h from two places would re-declare add() twice — link error. The #ifndef/#define/#endif sandwich tells the preprocessor "skip me if you have already seen me." Modern alternative: #pragma once (one line, same effect).</a:t>
            </a:r>
            <a:endParaRPr lang="en-US" sz="1300" dirty="0"/>
          </a:p>
        </p:txBody>
      </p:sp>
      <p:sp>
        <p:nvSpPr>
          <p:cNvPr id="8" name="Shape 6"/>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9" name="Text 7"/>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§3</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Live coding · Hello, World — but really look at it</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I'll type this in Visual Studio. Watch the four moving parts.</a:t>
            </a:r>
            <a:endParaRPr lang="en-US" sz="1400" dirty="0"/>
          </a:p>
        </p:txBody>
      </p:sp>
      <p:sp>
        <p:nvSpPr>
          <p:cNvPr id="5" name="Shape 3"/>
          <p:cNvSpPr/>
          <p:nvPr/>
        </p:nvSpPr>
        <p:spPr>
          <a:xfrm>
            <a:off x="457200" y="1463040"/>
            <a:ext cx="7315200" cy="3291840"/>
          </a:xfrm>
          <a:prstGeom prst="rect">
            <a:avLst/>
          </a:prstGeom>
          <a:solidFill>
            <a:srgbClr val="F4F4F4"/>
          </a:solidFill>
          <a:ln w="9525">
            <a:solidFill>
              <a:srgbClr val="D9D9D9"/>
            </a:solidFill>
            <a:prstDash val="solid"/>
          </a:ln>
        </p:spPr>
        <p:txBody>
          <a:bodyPr/>
          <a:lstStyle/>
          <a:p>
            <a:endParaRPr lang="en-US"/>
          </a:p>
        </p:txBody>
      </p:sp>
      <p:sp>
        <p:nvSpPr>
          <p:cNvPr id="6" name="Text 4"/>
          <p:cNvSpPr/>
          <p:nvPr/>
        </p:nvSpPr>
        <p:spPr>
          <a:xfrm>
            <a:off x="640080" y="1600200"/>
            <a:ext cx="6949440" cy="3017520"/>
          </a:xfrm>
          <a:prstGeom prst="rect">
            <a:avLst/>
          </a:prstGeom>
          <a:noFill/>
          <a:ln/>
        </p:spPr>
        <p:txBody>
          <a:bodyPr wrap="square" rtlCol="0" anchor="t"/>
          <a:lstStyle/>
          <a:p>
            <a:pPr marL="0" indent="0">
              <a:buNone/>
            </a:pPr>
            <a:r>
              <a:rPr lang="en-US" sz="1400" dirty="0">
                <a:solidFill>
                  <a:srgbClr val="1F2937"/>
                </a:solidFill>
                <a:latin typeface="Courier New" pitchFamily="34" charset="0"/>
                <a:ea typeface="Courier New" pitchFamily="34" charset="-122"/>
                <a:cs typeface="Courier New" pitchFamily="34" charset="-120"/>
              </a:rPr>
              <a:t>#include &lt;iostream&gt;     // bring in the I/O library</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int main()               // the entry point — exactly one of these per program</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std::cout &lt;&lt; "Hello, OOP345!" &lt;&lt; std::endl;   // stream chars to standard output</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return 0;            // 0 means "success" to the operating system</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a:t>
            </a:r>
            <a:endParaRPr lang="en-US" sz="1400" dirty="0"/>
          </a:p>
        </p:txBody>
      </p:sp>
      <p:sp>
        <p:nvSpPr>
          <p:cNvPr id="7" name="Text 5"/>
          <p:cNvSpPr/>
          <p:nvPr/>
        </p:nvSpPr>
        <p:spPr>
          <a:xfrm>
            <a:off x="7955280" y="1463040"/>
            <a:ext cx="3931920" cy="365760"/>
          </a:xfrm>
          <a:prstGeom prst="rect">
            <a:avLst/>
          </a:prstGeom>
          <a:noFill/>
          <a:ln/>
        </p:spPr>
        <p:txBody>
          <a:bodyPr wrap="square"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Four moving parts</a:t>
            </a:r>
            <a:endParaRPr lang="en-US" sz="1600" dirty="0"/>
          </a:p>
        </p:txBody>
      </p:sp>
      <p:sp>
        <p:nvSpPr>
          <p:cNvPr id="8" name="Text 6"/>
          <p:cNvSpPr/>
          <p:nvPr/>
        </p:nvSpPr>
        <p:spPr>
          <a:xfrm>
            <a:off x="7955280" y="1828800"/>
            <a:ext cx="3931920" cy="4297680"/>
          </a:xfrm>
          <a:prstGeom prst="rect">
            <a:avLst/>
          </a:prstGeom>
          <a:noFill/>
          <a:ln/>
        </p:spPr>
        <p:txBody>
          <a:bodyPr wrap="square" rtlCol="0" anchor="t"/>
          <a:lstStyle/>
          <a:p>
            <a:pPr marL="0" indent="0">
              <a:spcAft>
                <a:spcPts val="200"/>
              </a:spcAft>
              <a:buNone/>
            </a:pPr>
            <a:r>
              <a:rPr lang="en-US" sz="1300" b="1" dirty="0">
                <a:solidFill>
                  <a:srgbClr val="C00000"/>
                </a:solidFill>
                <a:latin typeface="Calibri" pitchFamily="34" charset="0"/>
                <a:ea typeface="Calibri" pitchFamily="34" charset="-122"/>
                <a:cs typeface="Calibri" pitchFamily="34" charset="-120"/>
              </a:rPr>
              <a:t>#include — preprocessor directive</a:t>
            </a:r>
            <a:endParaRPr lang="en-US" sz="1300" dirty="0"/>
          </a:p>
          <a:p>
            <a:pPr marL="0" indent="0">
              <a:spcAft>
                <a:spcPts val="1000"/>
              </a:spcAft>
              <a:buNone/>
            </a:pPr>
            <a:r>
              <a:rPr lang="en-US" sz="1200" dirty="0">
                <a:solidFill>
                  <a:srgbClr val="404040"/>
                </a:solidFill>
                <a:latin typeface="Calibri" pitchFamily="34" charset="0"/>
                <a:ea typeface="Calibri" pitchFamily="34" charset="-122"/>
                <a:cs typeface="Calibri" pitchFamily="34" charset="-120"/>
              </a:rPr>
              <a:t>pulls iostream's declarations into this file before compilation.</a:t>
            </a:r>
            <a:endParaRPr lang="en-US" sz="1300" dirty="0"/>
          </a:p>
          <a:p>
            <a:pPr marL="0" indent="0">
              <a:spcAft>
                <a:spcPts val="200"/>
              </a:spcAft>
              <a:buNone/>
            </a:pPr>
            <a:r>
              <a:rPr lang="en-US" sz="1300" b="1" dirty="0">
                <a:solidFill>
                  <a:srgbClr val="C00000"/>
                </a:solidFill>
                <a:latin typeface="Calibri" pitchFamily="34" charset="0"/>
                <a:ea typeface="Calibri" pitchFamily="34" charset="-122"/>
                <a:cs typeface="Calibri" pitchFamily="34" charset="-120"/>
              </a:rPr>
              <a:t>int main() — the program's front door</a:t>
            </a:r>
            <a:endParaRPr lang="en-US" sz="1300" dirty="0"/>
          </a:p>
          <a:p>
            <a:pPr marL="0" indent="0">
              <a:spcAft>
                <a:spcPts val="1000"/>
              </a:spcAft>
              <a:buNone/>
            </a:pPr>
            <a:r>
              <a:rPr lang="en-US" sz="1200" dirty="0">
                <a:solidFill>
                  <a:srgbClr val="404040"/>
                </a:solidFill>
                <a:latin typeface="Calibri" pitchFamily="34" charset="0"/>
                <a:ea typeface="Calibri" pitchFamily="34" charset="-122"/>
                <a:cs typeface="Calibri" pitchFamily="34" charset="-120"/>
              </a:rPr>
              <a:t>execution begins here. Returning 0 signals success.</a:t>
            </a:r>
            <a:endParaRPr lang="en-US" sz="1300" dirty="0"/>
          </a:p>
          <a:p>
            <a:pPr marL="0" indent="0">
              <a:spcAft>
                <a:spcPts val="200"/>
              </a:spcAft>
              <a:buNone/>
            </a:pPr>
            <a:r>
              <a:rPr lang="en-US" sz="1300" b="1" dirty="0">
                <a:solidFill>
                  <a:srgbClr val="C00000"/>
                </a:solidFill>
                <a:latin typeface="Calibri" pitchFamily="34" charset="0"/>
                <a:ea typeface="Calibri" pitchFamily="34" charset="-122"/>
                <a:cs typeface="Calibri" pitchFamily="34" charset="-120"/>
              </a:rPr>
              <a:t>std:: namespace prefix</a:t>
            </a:r>
            <a:endParaRPr lang="en-US" sz="1300" dirty="0"/>
          </a:p>
          <a:p>
            <a:pPr marL="0" indent="0">
              <a:spcAft>
                <a:spcPts val="1000"/>
              </a:spcAft>
              <a:buNone/>
            </a:pPr>
            <a:r>
              <a:rPr lang="en-US" sz="1200" dirty="0">
                <a:solidFill>
                  <a:srgbClr val="404040"/>
                </a:solidFill>
                <a:latin typeface="Calibri" pitchFamily="34" charset="0"/>
                <a:ea typeface="Calibri" pitchFamily="34" charset="-122"/>
                <a:cs typeface="Calibri" pitchFamily="34" charset="-120"/>
              </a:rPr>
              <a:t>every standard-library name lives inside the std namespace.</a:t>
            </a:r>
            <a:endParaRPr lang="en-US" sz="1300" dirty="0"/>
          </a:p>
          <a:p>
            <a:pPr marL="0" indent="0">
              <a:spcAft>
                <a:spcPts val="200"/>
              </a:spcAft>
              <a:buNone/>
            </a:pPr>
            <a:r>
              <a:rPr lang="en-US" sz="1300" b="1" dirty="0">
                <a:solidFill>
                  <a:srgbClr val="C00000"/>
                </a:solidFill>
                <a:latin typeface="Calibri" pitchFamily="34" charset="0"/>
                <a:ea typeface="Calibri" pitchFamily="34" charset="-122"/>
                <a:cs typeface="Calibri" pitchFamily="34" charset="-120"/>
              </a:rPr>
              <a:t>&lt;&lt;  insertion operator</a:t>
            </a:r>
            <a:endParaRPr lang="en-US" sz="1300" dirty="0"/>
          </a:p>
          <a:p>
            <a:pPr marL="0" indent="0">
              <a:buNone/>
            </a:pPr>
            <a:r>
              <a:rPr lang="en-US" sz="1200" dirty="0">
                <a:solidFill>
                  <a:srgbClr val="404040"/>
                </a:solidFill>
                <a:latin typeface="Calibri" pitchFamily="34" charset="0"/>
                <a:ea typeface="Calibri" pitchFamily="34" charset="-122"/>
                <a:cs typeface="Calibri" pitchFamily="34" charset="-120"/>
              </a:rPr>
              <a:t>streams data left-to-right — operator overloading in action.</a:t>
            </a:r>
            <a:endParaRPr lang="en-US" sz="1300" dirty="0"/>
          </a:p>
        </p:txBody>
      </p:sp>
      <p:sp>
        <p:nvSpPr>
          <p:cNvPr id="9" name="Text 7"/>
          <p:cNvSpPr/>
          <p:nvPr/>
        </p:nvSpPr>
        <p:spPr>
          <a:xfrm>
            <a:off x="457200" y="4937760"/>
            <a:ext cx="8229600" cy="45720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I'll change the message, recompile (full and then incremental), and run — so you see all five stages happen.</a:t>
            </a:r>
            <a:endParaRPr lang="en-US" sz="1400" dirty="0"/>
          </a:p>
        </p:txBody>
      </p:sp>
      <p:sp>
        <p:nvSpPr>
          <p:cNvPr id="10" name="Shape 8"/>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1" name="Text 9"/>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Live coding · Splitting a program across files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I'll create main.cpp + math_utils.h + math_utils.cpp and compile from the command line.</a:t>
            </a:r>
            <a:endParaRPr lang="en-US" sz="1400" dirty="0"/>
          </a:p>
        </p:txBody>
      </p:sp>
      <p:sp>
        <p:nvSpPr>
          <p:cNvPr id="5" name="Shape 3"/>
          <p:cNvSpPr/>
          <p:nvPr/>
        </p:nvSpPr>
        <p:spPr>
          <a:xfrm>
            <a:off x="457200" y="1371600"/>
            <a:ext cx="7589520" cy="4754880"/>
          </a:xfrm>
          <a:prstGeom prst="rect">
            <a:avLst/>
          </a:prstGeom>
          <a:solidFill>
            <a:srgbClr val="F4F4F4"/>
          </a:solidFill>
          <a:ln w="9525">
            <a:solidFill>
              <a:srgbClr val="D9D9D9"/>
            </a:solidFill>
            <a:prstDash val="solid"/>
          </a:ln>
        </p:spPr>
        <p:txBody>
          <a:bodyPr/>
          <a:lstStyle/>
          <a:p>
            <a:endParaRPr lang="en-US"/>
          </a:p>
        </p:txBody>
      </p:sp>
      <p:sp>
        <p:nvSpPr>
          <p:cNvPr id="6" name="Text 4"/>
          <p:cNvSpPr/>
          <p:nvPr/>
        </p:nvSpPr>
        <p:spPr>
          <a:xfrm>
            <a:off x="640080" y="1508760"/>
            <a:ext cx="7223760" cy="4480560"/>
          </a:xfrm>
          <a:prstGeom prst="rect">
            <a:avLst/>
          </a:prstGeom>
          <a:noFill/>
          <a:ln/>
        </p:spPr>
        <p:txBody>
          <a:bodyPr wrap="square" rtlCol="0" anchor="t"/>
          <a:lstStyle/>
          <a:p>
            <a:pPr marL="0" indent="0">
              <a:buNone/>
            </a:pPr>
            <a:r>
              <a:rPr lang="en-US" sz="1100" dirty="0">
                <a:solidFill>
                  <a:srgbClr val="1F2937"/>
                </a:solidFill>
                <a:latin typeface="Courier New" pitchFamily="34" charset="0"/>
                <a:ea typeface="Courier New" pitchFamily="34" charset="-122"/>
                <a:cs typeface="Courier New" pitchFamily="34" charset="-120"/>
              </a:rPr>
              <a:t>// main.cpp</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#include &lt;iostream&gt;</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#include "math_utils.h"</a:t>
            </a:r>
            <a:endParaRPr lang="en-US" sz="1100" dirty="0"/>
          </a:p>
          <a:p>
            <a:pPr marL="0" indent="0">
              <a:buNone/>
            </a:pP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int main() {</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std::cout &lt;&lt; add(2, 3) &lt;&lt; '\n';      // 5</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std::cout &lt;&lt; square(4) &lt;&lt; '\n';      // 16</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return 0;</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a:t>
            </a:r>
            <a:endParaRPr lang="en-US" sz="1100" dirty="0"/>
          </a:p>
          <a:p>
            <a:pPr marL="0" indent="0">
              <a:buNone/>
            </a:pP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math_utils.h</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a:t>
            </a:r>
            <a:r>
              <a:rPr lang="en-US" sz="1100" dirty="0" err="1">
                <a:solidFill>
                  <a:srgbClr val="1F2937"/>
                </a:solidFill>
                <a:latin typeface="Courier New" pitchFamily="34" charset="0"/>
                <a:ea typeface="Courier New" pitchFamily="34" charset="-122"/>
                <a:cs typeface="Courier New" pitchFamily="34" charset="-120"/>
              </a:rPr>
              <a:t>ifndef</a:t>
            </a:r>
            <a:r>
              <a:rPr lang="en-US" sz="1100" dirty="0">
                <a:solidFill>
                  <a:srgbClr val="1F2937"/>
                </a:solidFill>
                <a:latin typeface="Courier New" pitchFamily="34" charset="0"/>
                <a:ea typeface="Courier New" pitchFamily="34" charset="-122"/>
                <a:cs typeface="Courier New" pitchFamily="34" charset="-120"/>
              </a:rPr>
              <a:t> MATH_UTILS_H</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#define MATH_UTILS_H</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int add(int a, int b);</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int square(int x);</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#endif</a:t>
            </a:r>
            <a:endParaRPr lang="en-US" sz="1100" dirty="0"/>
          </a:p>
          <a:p>
            <a:pPr marL="0" indent="0">
              <a:buNone/>
            </a:pP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math_utils.cpp</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#include "math_utils.h"</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int add(int a, int b)  { return a + b; }</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int square(int x)      { return x * x; }</a:t>
            </a:r>
            <a:endParaRPr lang="en-US" sz="1100" dirty="0"/>
          </a:p>
        </p:txBody>
      </p:sp>
      <p:sp>
        <p:nvSpPr>
          <p:cNvPr id="7" name="Text 5"/>
          <p:cNvSpPr/>
          <p:nvPr/>
        </p:nvSpPr>
        <p:spPr>
          <a:xfrm>
            <a:off x="8229600" y="1371600"/>
            <a:ext cx="3657600" cy="320040"/>
          </a:xfrm>
          <a:prstGeom prst="rect">
            <a:avLst/>
          </a:prstGeom>
          <a:noFill/>
          <a:ln/>
        </p:spPr>
        <p:txBody>
          <a:bodyPr wrap="square" rtlCol="0" anchor="ctr"/>
          <a:lstStyle/>
          <a:p>
            <a:pPr marL="0" indent="0">
              <a:buNone/>
            </a:pPr>
            <a:r>
              <a:rPr lang="en-US" sz="1300" b="1" dirty="0">
                <a:solidFill>
                  <a:srgbClr val="002060"/>
                </a:solidFill>
                <a:latin typeface="Calibri" pitchFamily="34" charset="0"/>
                <a:ea typeface="Calibri" pitchFamily="34" charset="-122"/>
                <a:cs typeface="Calibri" pitchFamily="34" charset="-120"/>
              </a:rPr>
              <a:t>CLI build</a:t>
            </a:r>
            <a:endParaRPr lang="en-US" sz="1300" dirty="0"/>
          </a:p>
        </p:txBody>
      </p:sp>
      <p:sp>
        <p:nvSpPr>
          <p:cNvPr id="8" name="Text 6"/>
          <p:cNvSpPr/>
          <p:nvPr/>
        </p:nvSpPr>
        <p:spPr>
          <a:xfrm>
            <a:off x="8229600" y="1691640"/>
            <a:ext cx="3657600" cy="1645920"/>
          </a:xfrm>
          <a:prstGeom prst="rect">
            <a:avLst/>
          </a:prstGeom>
          <a:noFill/>
          <a:ln/>
        </p:spPr>
        <p:txBody>
          <a:bodyPr wrap="square" rtlCol="0" anchor="t"/>
          <a:lstStyle/>
          <a:p>
            <a:pPr marL="0" indent="0">
              <a:buNone/>
            </a:pPr>
            <a:r>
              <a:rPr lang="en-US" sz="1100" dirty="0">
                <a:solidFill>
                  <a:srgbClr val="C00000"/>
                </a:solidFill>
                <a:latin typeface="Courier New" pitchFamily="34" charset="0"/>
                <a:ea typeface="Courier New" pitchFamily="34" charset="-122"/>
                <a:cs typeface="Courier New" pitchFamily="34" charset="-120"/>
              </a:rPr>
              <a:t>g++ -std=c++17 -Wall \</a:t>
            </a:r>
            <a:endParaRPr lang="en-US" sz="1100" dirty="0"/>
          </a:p>
          <a:p>
            <a:pPr marL="0" indent="0">
              <a:buNone/>
            </a:pPr>
            <a:r>
              <a:rPr lang="en-US" sz="1100" dirty="0">
                <a:solidFill>
                  <a:srgbClr val="C00000"/>
                </a:solidFill>
                <a:latin typeface="Courier New" pitchFamily="34" charset="0"/>
                <a:ea typeface="Courier New" pitchFamily="34" charset="-122"/>
                <a:cs typeface="Courier New" pitchFamily="34" charset="-120"/>
              </a:rPr>
              <a:t>  main.cpp math_utils.cpp \</a:t>
            </a:r>
            <a:endParaRPr lang="en-US" sz="1100" dirty="0"/>
          </a:p>
          <a:p>
            <a:pPr marL="0" indent="0">
              <a:buNone/>
            </a:pPr>
            <a:r>
              <a:rPr lang="en-US" sz="1100" dirty="0">
                <a:solidFill>
                  <a:srgbClr val="C00000"/>
                </a:solidFill>
                <a:latin typeface="Courier New" pitchFamily="34" charset="0"/>
                <a:ea typeface="Courier New" pitchFamily="34" charset="-122"/>
                <a:cs typeface="Courier New" pitchFamily="34" charset="-120"/>
              </a:rPr>
              <a:t>  -o demo</a:t>
            </a:r>
            <a:endParaRPr lang="en-US" sz="1100" dirty="0"/>
          </a:p>
          <a:p>
            <a:pPr marL="0" indent="0">
              <a:buNone/>
            </a:pPr>
            <a:endParaRPr lang="en-US" sz="1100" dirty="0"/>
          </a:p>
          <a:p>
            <a:pPr marL="0" indent="0">
              <a:buNone/>
            </a:pPr>
            <a:r>
              <a:rPr lang="en-US" sz="1100" dirty="0">
                <a:solidFill>
                  <a:srgbClr val="C00000"/>
                </a:solidFill>
                <a:latin typeface="Courier New" pitchFamily="34" charset="0"/>
                <a:ea typeface="Courier New" pitchFamily="34" charset="-122"/>
                <a:cs typeface="Courier New" pitchFamily="34" charset="-120"/>
              </a:rPr>
              <a:t>./demo</a:t>
            </a:r>
            <a:endParaRPr lang="en-US" sz="1100" dirty="0"/>
          </a:p>
        </p:txBody>
      </p:sp>
      <p:sp>
        <p:nvSpPr>
          <p:cNvPr id="9" name="Text 7"/>
          <p:cNvSpPr/>
          <p:nvPr/>
        </p:nvSpPr>
        <p:spPr>
          <a:xfrm>
            <a:off x="8229600" y="3383280"/>
            <a:ext cx="3657600" cy="320040"/>
          </a:xfrm>
          <a:prstGeom prst="rect">
            <a:avLst/>
          </a:prstGeom>
          <a:noFill/>
          <a:ln/>
        </p:spPr>
        <p:txBody>
          <a:bodyPr wrap="square" rtlCol="0" anchor="ctr"/>
          <a:lstStyle/>
          <a:p>
            <a:pPr marL="0" indent="0">
              <a:buNone/>
            </a:pPr>
            <a:r>
              <a:rPr lang="en-US" sz="1300" b="1" dirty="0">
                <a:solidFill>
                  <a:srgbClr val="002060"/>
                </a:solidFill>
                <a:latin typeface="Calibri" pitchFamily="34" charset="0"/>
                <a:ea typeface="Calibri" pitchFamily="34" charset="-122"/>
                <a:cs typeface="Calibri" pitchFamily="34" charset="-120"/>
              </a:rPr>
              <a:t>Why split?</a:t>
            </a:r>
            <a:endParaRPr lang="en-US" sz="1300" dirty="0"/>
          </a:p>
        </p:txBody>
      </p:sp>
      <p:sp>
        <p:nvSpPr>
          <p:cNvPr id="10" name="Text 8"/>
          <p:cNvSpPr/>
          <p:nvPr/>
        </p:nvSpPr>
        <p:spPr>
          <a:xfrm>
            <a:off x="8229600" y="3749040"/>
            <a:ext cx="3657600" cy="2194560"/>
          </a:xfrm>
          <a:prstGeom prst="rect">
            <a:avLst/>
          </a:prstGeom>
          <a:noFill/>
          <a:ln/>
        </p:spPr>
        <p:txBody>
          <a:bodyPr wrap="square" rtlCol="0" anchor="t"/>
          <a:lstStyle/>
          <a:p>
            <a:pPr marL="0" indent="0">
              <a:spcAft>
                <a:spcPts val="600"/>
              </a:spcAft>
              <a:buNone/>
            </a:pPr>
            <a:r>
              <a:rPr lang="en-US" sz="1100" dirty="0">
                <a:solidFill>
                  <a:srgbClr val="404040"/>
                </a:solidFill>
                <a:latin typeface="Calibri" pitchFamily="34" charset="0"/>
                <a:ea typeface="Calibri" pitchFamily="34" charset="-122"/>
                <a:cs typeface="Calibri" pitchFamily="34" charset="-120"/>
              </a:rPr>
              <a:t>Headers expose the API; .cpp files keep the implementation.</a:t>
            </a:r>
            <a:endParaRPr lang="en-US" sz="1100" dirty="0"/>
          </a:p>
          <a:p>
            <a:pPr marL="0" indent="0">
              <a:spcAft>
                <a:spcPts val="600"/>
              </a:spcAft>
              <a:buNone/>
            </a:pPr>
            <a:r>
              <a:rPr lang="en-US" sz="1100" dirty="0">
                <a:solidFill>
                  <a:srgbClr val="404040"/>
                </a:solidFill>
                <a:latin typeface="Calibri" pitchFamily="34" charset="0"/>
                <a:ea typeface="Calibri" pitchFamily="34" charset="-122"/>
                <a:cs typeface="Calibri" pitchFamily="34" charset="-120"/>
              </a:rPr>
              <a:t>Changing one .cpp only recompiles that file (fast incremental builds).</a:t>
            </a:r>
            <a:endParaRPr lang="en-US" sz="1100" dirty="0"/>
          </a:p>
          <a:p>
            <a:pPr marL="0" indent="0">
              <a:buNone/>
            </a:pPr>
            <a:r>
              <a:rPr lang="en-US" sz="1100" dirty="0">
                <a:solidFill>
                  <a:srgbClr val="404040"/>
                </a:solidFill>
                <a:latin typeface="Calibri" pitchFamily="34" charset="0"/>
                <a:ea typeface="Calibri" pitchFamily="34" charset="-122"/>
                <a:cs typeface="Calibri" pitchFamily="34" charset="-120"/>
              </a:rPr>
              <a:t>Other programmers read headers first — make them clean and small.</a:t>
            </a:r>
            <a:endParaRPr lang="en-US" sz="1100" dirty="0"/>
          </a:p>
        </p:txBody>
      </p:sp>
      <p:sp>
        <p:nvSpPr>
          <p:cNvPr id="11" name="Shape 9"/>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2" name="Text 10"/>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§4</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Live coding · When compilation fails (on purpose)</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I will inject one bug at a time. Each error message tells you which stage broke.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1402080"/>
        </p:xfrm>
        <a:graphic>
          <a:graphicData uri="http://schemas.openxmlformats.org/drawingml/2006/table">
            <a:tbl>
              <a:tblPr/>
              <a:tblGrid>
                <a:gridCol w="42062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Bug I introduce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Stage that fails</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Typical message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Misspell #include "math_utils.h" as "math_utls.h"</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Preprocess</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fatal error: math_utls.h: No such file or directory</a:t>
                      </a:r>
                      <a:endParaRPr lang="en-US" sz="11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Remove the semicolon after a statement</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Compile</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expected ';' before '}' token</a:t>
                      </a:r>
                      <a:endParaRPr lang="en-US" sz="11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Declare add() in the header but skip math_utils.cpp</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Link</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undefined reference to `add(int, int)'</a:t>
                      </a:r>
                      <a:endParaRPr lang="en-US" sz="11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Divide by an int that is zero at runtime</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Run</a:t>
                      </a:r>
                      <a:endParaRPr lang="en-US" sz="12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Floating point exception / crash dump</a:t>
                      </a:r>
                      <a:endParaRPr lang="en-US" sz="11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457200" y="5303520"/>
            <a:ext cx="8229600" cy="731520"/>
          </a:xfrm>
          <a:prstGeom prst="rect">
            <a:avLst/>
          </a:prstGeom>
          <a:noFill/>
          <a:ln/>
        </p:spPr>
        <p:txBody>
          <a:bodyPr wrap="square" rtlCol="0" anchor="ctr"/>
          <a:lstStyle/>
          <a:p>
            <a:pPr marL="0" indent="0">
              <a:buNone/>
            </a:pPr>
            <a:r>
              <a:rPr lang="en-US" sz="1400" b="1" i="1" dirty="0">
                <a:solidFill>
                  <a:srgbClr val="C00000"/>
                </a:solidFill>
                <a:latin typeface="Calibri" pitchFamily="34" charset="0"/>
                <a:ea typeface="Calibri" pitchFamily="34" charset="-122"/>
                <a:cs typeface="Calibri" pitchFamily="34" charset="-120"/>
              </a:rPr>
              <a:t>Goal of the demo: by the end of the lab, you can match an error message to a stage in under 5 seconds. That is the single most useful skill in C++.</a:t>
            </a:r>
            <a:endParaRPr lang="en-US" sz="1400" dirty="0"/>
          </a:p>
        </p:txBody>
      </p:sp>
      <p:sp>
        <p:nvSpPr>
          <p:cNvPr id="7" name="Shape 4"/>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8" name="Text 5"/>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§5</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4572000" cy="6446520"/>
          </a:xfrm>
          <a:prstGeom prst="rect">
            <a:avLst/>
          </a:prstGeom>
          <a:solidFill>
            <a:srgbClr val="002060"/>
          </a:solidFill>
          <a:ln/>
        </p:spPr>
        <p:txBody>
          <a:bodyPr/>
          <a:lstStyle/>
          <a:p>
            <a:endParaRPr lang="en-US"/>
          </a:p>
        </p:txBody>
      </p:sp>
      <p:sp>
        <p:nvSpPr>
          <p:cNvPr id="3" name="Text 1"/>
          <p:cNvSpPr/>
          <p:nvPr/>
        </p:nvSpPr>
        <p:spPr>
          <a:xfrm>
            <a:off x="548640" y="2194560"/>
            <a:ext cx="3657600" cy="45720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SECTION 2</a:t>
            </a:r>
            <a:endParaRPr lang="en-US" sz="1400" dirty="0"/>
          </a:p>
        </p:txBody>
      </p:sp>
      <p:sp>
        <p:nvSpPr>
          <p:cNvPr id="4" name="Text 2"/>
          <p:cNvSpPr/>
          <p:nvPr/>
        </p:nvSpPr>
        <p:spPr>
          <a:xfrm>
            <a:off x="548640" y="2697480"/>
            <a:ext cx="3657600" cy="1463040"/>
          </a:xfrm>
          <a:prstGeom prst="rect">
            <a:avLst/>
          </a:prstGeom>
          <a:noFill/>
          <a:ln/>
        </p:spPr>
        <p:txBody>
          <a:bodyPr wrap="square"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Types &amp; Variables</a:t>
            </a:r>
            <a:endParaRPr lang="en-US" sz="3000" dirty="0"/>
          </a:p>
        </p:txBody>
      </p:sp>
      <p:sp>
        <p:nvSpPr>
          <p:cNvPr id="5" name="Text 3"/>
          <p:cNvSpPr/>
          <p:nvPr/>
        </p:nvSpPr>
        <p:spPr>
          <a:xfrm>
            <a:off x="5120640" y="2468880"/>
            <a:ext cx="6583680" cy="2194560"/>
          </a:xfrm>
          <a:prstGeom prst="rect">
            <a:avLst/>
          </a:prstGeom>
          <a:noFill/>
          <a:ln/>
        </p:spPr>
        <p:txBody>
          <a:bodyPr wrap="square" rtlCol="0" anchor="t"/>
          <a:lstStyle/>
          <a:p>
            <a:pPr marL="0" indent="0">
              <a:buNone/>
            </a:pPr>
            <a:r>
              <a:rPr lang="en-US" sz="1800" dirty="0">
                <a:solidFill>
                  <a:srgbClr val="404040"/>
                </a:solidFill>
                <a:latin typeface="Calibri" pitchFamily="34" charset="0"/>
                <a:ea typeface="Calibri" pitchFamily="34" charset="-122"/>
                <a:cs typeface="Calibri" pitchFamily="34" charset="-120"/>
              </a:rPr>
              <a:t>Fundamental types · sizeof · numeric_limits · initialization styles · const, auto, decltype. The vocabulary you will speak for the rest of the term.</a:t>
            </a:r>
            <a:endParaRPr lang="en-US" sz="1800" dirty="0"/>
          </a:p>
        </p:txBody>
      </p:sp>
      <p:sp>
        <p:nvSpPr>
          <p:cNvPr id="6" name="Shape 4"/>
          <p:cNvSpPr/>
          <p:nvPr/>
        </p:nvSpPr>
        <p:spPr>
          <a:xfrm>
            <a:off x="5120640" y="2194560"/>
            <a:ext cx="548640" cy="73152"/>
          </a:xfrm>
          <a:prstGeom prst="rect">
            <a:avLst/>
          </a:prstGeom>
          <a:solidFill>
            <a:srgbClr val="C00000"/>
          </a:solidFill>
          <a:ln/>
        </p:spPr>
        <p:txBody>
          <a:bodyPr/>
          <a:lstStyle/>
          <a:p>
            <a:endParaRPr lang="en-US"/>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Fundamental types — the atoms of your program</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2621280"/>
        </p:xfrm>
        <a:graphic>
          <a:graphicData uri="http://schemas.openxmlformats.org/drawingml/2006/table">
            <a:tbl>
              <a:tblPr/>
              <a:tblGrid>
                <a:gridCol w="14630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66344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Typical size</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400" b="1" dirty="0">
                          <a:solidFill>
                            <a:srgbClr val="002060"/>
                          </a:solidFill>
                          <a:latin typeface="Calibri" pitchFamily="34" charset="0"/>
                          <a:ea typeface="Calibri" pitchFamily="34" charset="-122"/>
                          <a:cs typeface="Calibri" pitchFamily="34" charset="-120"/>
                        </a:rPr>
                        <a:t>Range / detail</a:t>
                      </a:r>
                      <a:endParaRPr lang="en-US" sz="14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bool</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true / false</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 byte</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don't assume — sizeof() to verify</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char</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one byte (often a character)</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 byte</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-128 … 127 (signed)</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short</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small whole numbers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2 bytes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−32,768 … 32,767</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int</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whole numbers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4 bytes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 ±2.1 billion</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long long</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big whole numbers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8 bytes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roughly ±9.2 × 10^18</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float</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single-precision real</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4 bytes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 7 decimal digits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double</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double-precision real</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8 bytes</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 15 decimal digits — our default</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300" b="1" dirty="0">
                          <a:solidFill>
                            <a:srgbClr val="000000"/>
                          </a:solidFill>
                          <a:latin typeface="Courier New" pitchFamily="34" charset="0"/>
                          <a:ea typeface="Courier New" pitchFamily="34" charset="-122"/>
                          <a:cs typeface="Courier New" pitchFamily="34" charset="-120"/>
                        </a:rPr>
                        <a:t>void</a:t>
                      </a:r>
                      <a:endParaRPr lang="en-US" sz="1300" dirty="0">
                        <a:latin typeface="Courier New" charset="0"/>
                        <a:ea typeface="Courier New" charset="0"/>
                        <a:cs typeface="Courier New"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"nothing" — no value</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used for return type and void*</a:t>
                      </a:r>
                      <a:endParaRPr lang="en-US" sz="1300" dirty="0">
                        <a:latin typeface="Calibri" charset="0"/>
                        <a:ea typeface="Calibri" charset="0"/>
                        <a:cs typeface="Calibri" charset="0"/>
                      </a:endParaRPr>
                    </a:p>
                  </a:txBody>
                  <a:tcP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457200" y="5760720"/>
            <a:ext cx="8229600" cy="4572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"Typical size" is what you'll see on Windows/Linux x64. The C++ standard guarantees relative ordering, not exact widths — always use sizeof() if it matters.</a:t>
            </a:r>
            <a:endParaRPr lang="en-US" sz="1300" dirty="0"/>
          </a:p>
        </p:txBody>
      </p:sp>
      <p:sp>
        <p:nvSpPr>
          <p:cNvPr id="6" name="Shape 3"/>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7" name="Text 4"/>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§6</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How big is "big"? — sizeof and numeric_limits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7772400" cy="320040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7406640" cy="2926080"/>
          </a:xfrm>
          <a:prstGeom prst="rect">
            <a:avLst/>
          </a:prstGeom>
          <a:noFill/>
          <a:ln/>
        </p:spPr>
        <p:txBody>
          <a:bodyPr wrap="square" rtlCol="0" anchor="t"/>
          <a:lstStyle/>
          <a:p>
            <a:pPr marL="0" indent="0">
              <a:buNone/>
            </a:pPr>
            <a:r>
              <a:rPr lang="en-US" sz="1400" dirty="0">
                <a:solidFill>
                  <a:srgbClr val="1F2937"/>
                </a:solidFill>
                <a:latin typeface="Courier New" pitchFamily="34" charset="0"/>
                <a:ea typeface="Courier New" pitchFamily="34" charset="-122"/>
                <a:cs typeface="Courier New" pitchFamily="34" charset="-120"/>
              </a:rPr>
              <a:t>#include &lt;iostream&gt;</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#include &lt;limits&gt;     // std::numeric_limits</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int main() {</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std::cout &lt;&lt; "int   : " &lt;&lt; sizeof(int)</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&lt;&lt; " bytes, max = " &lt;&lt; std::numeric_limits&lt;int&gt;::max() &lt;&lt; '\n';</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std::cout &lt;&lt; "double: " &lt;&lt; sizeof(double)</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&lt;&lt; " bytes, max = " &lt;&lt; std::numeric_limits&lt;double&gt;::max() &lt;&lt; '\n';</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std::cout &lt;&lt; "pointer on this platform: " &lt;&lt; sizeof(int*) &lt;&lt; " bytes\n";</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    return 0;</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a:t>
            </a:r>
            <a:endParaRPr lang="en-US" sz="1400" dirty="0"/>
          </a:p>
        </p:txBody>
      </p:sp>
      <p:sp>
        <p:nvSpPr>
          <p:cNvPr id="6" name="Shape 4"/>
          <p:cNvSpPr/>
          <p:nvPr/>
        </p:nvSpPr>
        <p:spPr>
          <a:xfrm>
            <a:off x="8412480" y="1371600"/>
            <a:ext cx="3291840" cy="2743200"/>
          </a:xfrm>
          <a:prstGeom prst="rect">
            <a:avLst/>
          </a:prstGeom>
          <a:solidFill>
            <a:srgbClr val="FBE9D8"/>
          </a:solidFill>
          <a:ln w="12700">
            <a:solidFill>
              <a:srgbClr val="C99B2D"/>
            </a:solidFill>
            <a:prstDash val="solid"/>
          </a:ln>
        </p:spPr>
        <p:txBody>
          <a:bodyPr/>
          <a:lstStyle/>
          <a:p>
            <a:endParaRPr lang="en-US"/>
          </a:p>
        </p:txBody>
      </p:sp>
      <p:sp>
        <p:nvSpPr>
          <p:cNvPr id="7" name="Text 5"/>
          <p:cNvSpPr/>
          <p:nvPr/>
        </p:nvSpPr>
        <p:spPr>
          <a:xfrm>
            <a:off x="8595360" y="1463040"/>
            <a:ext cx="2926080" cy="274320"/>
          </a:xfrm>
          <a:prstGeom prst="rect">
            <a:avLst/>
          </a:prstGeom>
          <a:noFill/>
          <a:ln/>
        </p:spPr>
        <p:txBody>
          <a:bodyPr wrap="square" rtlCol="0" anchor="ctr"/>
          <a:lstStyle/>
          <a:p>
            <a:pPr marL="0" indent="0">
              <a:buNone/>
            </a:pPr>
            <a:r>
              <a:rPr lang="en-US" sz="1100" b="1" kern="0" spc="300" dirty="0">
                <a:solidFill>
                  <a:srgbClr val="C99B2D"/>
                </a:solidFill>
                <a:latin typeface="Calibri" pitchFamily="34" charset="0"/>
                <a:ea typeface="Calibri" pitchFamily="34" charset="-122"/>
                <a:cs typeface="Calibri" pitchFamily="34" charset="-120"/>
              </a:rPr>
              <a:t>REAL-WORLD ANALOGY</a:t>
            </a:r>
            <a:endParaRPr lang="en-US" sz="1100" dirty="0"/>
          </a:p>
        </p:txBody>
      </p:sp>
      <p:sp>
        <p:nvSpPr>
          <p:cNvPr id="8" name="Text 6"/>
          <p:cNvSpPr/>
          <p:nvPr/>
        </p:nvSpPr>
        <p:spPr>
          <a:xfrm>
            <a:off x="8595360" y="1783080"/>
            <a:ext cx="2926080" cy="365760"/>
          </a:xfrm>
          <a:prstGeom prst="rect">
            <a:avLst/>
          </a:prstGeom>
          <a:noFill/>
          <a:ln/>
        </p:spPr>
        <p:txBody>
          <a:bodyPr wrap="square" rtlCol="0" anchor="ctr"/>
          <a:lstStyle/>
          <a:p>
            <a:pPr marL="0" indent="0">
              <a:buNone/>
            </a:pPr>
            <a:r>
              <a:rPr lang="en-US" sz="1600" b="1" dirty="0">
                <a:solidFill>
                  <a:srgbClr val="6B4D1B"/>
                </a:solidFill>
                <a:latin typeface="Calibri" pitchFamily="34" charset="0"/>
                <a:ea typeface="Calibri" pitchFamily="34" charset="-122"/>
                <a:cs typeface="Calibri" pitchFamily="34" charset="-120"/>
              </a:rPr>
              <a:t>Containers, not contents</a:t>
            </a:r>
            <a:endParaRPr lang="en-US" sz="1600" dirty="0"/>
          </a:p>
        </p:txBody>
      </p:sp>
      <p:sp>
        <p:nvSpPr>
          <p:cNvPr id="9" name="Text 7"/>
          <p:cNvSpPr/>
          <p:nvPr/>
        </p:nvSpPr>
        <p:spPr>
          <a:xfrm>
            <a:off x="8595360" y="2148840"/>
            <a:ext cx="2926080" cy="1874520"/>
          </a:xfrm>
          <a:prstGeom prst="rect">
            <a:avLst/>
          </a:prstGeom>
          <a:noFill/>
          <a:ln/>
        </p:spPr>
        <p:txBody>
          <a:bodyPr wrap="square" rtlCol="0" anchor="t"/>
          <a:lstStyle/>
          <a:p>
            <a:pPr marL="0" indent="0">
              <a:buNone/>
            </a:pPr>
            <a:r>
              <a:rPr lang="en-US" sz="1300" dirty="0">
                <a:solidFill>
                  <a:srgbClr val="404040"/>
                </a:solidFill>
                <a:latin typeface="Calibri" pitchFamily="34" charset="0"/>
                <a:ea typeface="Calibri" pitchFamily="34" charset="-122"/>
                <a:cs typeface="Calibri" pitchFamily="34" charset="-120"/>
              </a:rPr>
              <a:t>sizeof asks how big the box is, not what's inside it. An empty int still occupies 4 bytes; an int holding 7 occupies 4 bytes. Layout is decided at compile time.</a:t>
            </a:r>
            <a:endParaRPr lang="en-US" sz="1300" dirty="0"/>
          </a:p>
        </p:txBody>
      </p:sp>
      <p:sp>
        <p:nvSpPr>
          <p:cNvPr id="10" name="Text 8"/>
          <p:cNvSpPr/>
          <p:nvPr/>
        </p:nvSpPr>
        <p:spPr>
          <a:xfrm>
            <a:off x="457200" y="4754880"/>
            <a:ext cx="10972800" cy="365760"/>
          </a:xfrm>
          <a:prstGeom prst="rect">
            <a:avLst/>
          </a:prstGeom>
          <a:noFill/>
          <a:ln/>
        </p:spPr>
        <p:txBody>
          <a:bodyPr wrap="square"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Why this matters</a:t>
            </a:r>
            <a:endParaRPr lang="en-US" sz="1600" dirty="0"/>
          </a:p>
        </p:txBody>
      </p:sp>
      <p:sp>
        <p:nvSpPr>
          <p:cNvPr id="11" name="Text 9"/>
          <p:cNvSpPr/>
          <p:nvPr/>
        </p:nvSpPr>
        <p:spPr>
          <a:xfrm>
            <a:off x="457200" y="5120640"/>
            <a:ext cx="8229600" cy="91440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When we get to memory layout (Week 2), pointer arithmetic (later tonight), and binary file I/O (Week 12), the size of a type is not optional trivia — it is the contract you write to disk and read back.</a:t>
            </a:r>
            <a:endParaRPr lang="en-US" sz="1400" dirty="0"/>
          </a:p>
        </p:txBody>
      </p:sp>
      <p:sp>
        <p:nvSpPr>
          <p:cNvPr id="12" name="Shape 10"/>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3" name="Text 11"/>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§7</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Variable initialization — three ways, one preferred</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The same value can be written three different ways. The "brace" form is the safest.</a:t>
            </a:r>
            <a:endParaRPr lang="en-US" sz="1400" dirty="0"/>
          </a:p>
        </p:txBody>
      </p:sp>
      <p:sp>
        <p:nvSpPr>
          <p:cNvPr id="5" name="Shape 3"/>
          <p:cNvSpPr/>
          <p:nvPr/>
        </p:nvSpPr>
        <p:spPr>
          <a:xfrm>
            <a:off x="457200" y="1371600"/>
            <a:ext cx="11247120" cy="4023360"/>
          </a:xfrm>
          <a:prstGeom prst="rect">
            <a:avLst/>
          </a:prstGeom>
          <a:solidFill>
            <a:srgbClr val="F4F4F4"/>
          </a:solidFill>
          <a:ln w="9525">
            <a:solidFill>
              <a:srgbClr val="D9D9D9"/>
            </a:solidFill>
            <a:prstDash val="solid"/>
          </a:ln>
        </p:spPr>
        <p:txBody>
          <a:bodyPr/>
          <a:lstStyle/>
          <a:p>
            <a:endParaRPr lang="en-US"/>
          </a:p>
        </p:txBody>
      </p:sp>
      <p:sp>
        <p:nvSpPr>
          <p:cNvPr id="6" name="Text 4"/>
          <p:cNvSpPr/>
          <p:nvPr/>
        </p:nvSpPr>
        <p:spPr>
          <a:xfrm>
            <a:off x="640080" y="1508760"/>
            <a:ext cx="10881360" cy="3749040"/>
          </a:xfrm>
          <a:prstGeom prst="rect">
            <a:avLst/>
          </a:prstGeom>
          <a:noFill/>
          <a:ln/>
        </p:spPr>
        <p:txBody>
          <a:bodyPr wrap="square" rtlCol="0" anchor="t"/>
          <a:lstStyle/>
          <a:p>
            <a:pPr marL="0" indent="0">
              <a:buNone/>
            </a:pPr>
            <a:r>
              <a:rPr lang="en-US" sz="1300" dirty="0">
                <a:solidFill>
                  <a:srgbClr val="1F2937"/>
                </a:solidFill>
                <a:latin typeface="Courier New" pitchFamily="34" charset="0"/>
                <a:ea typeface="Courier New" pitchFamily="34" charset="-122"/>
                <a:cs typeface="Courier New" pitchFamily="34" charset="-120"/>
              </a:rPr>
              <a:t>// 1. Copy initialization — the old C style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a = 5;</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double pi = 3.14159;</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2. Direct initialization — sometimes faster for class types</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b(5);</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double pi2(3.14159);</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3. Brace initialization ("uniform", C++11) — RECOMMENDED</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c{5};</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double pi3{3.14159};</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bad{3.14159};   // ERROR — brace init refuses narrowing conversions</a:t>
            </a:r>
            <a:endParaRPr lang="en-US" sz="1300" dirty="0"/>
          </a:p>
        </p:txBody>
      </p:sp>
      <p:sp>
        <p:nvSpPr>
          <p:cNvPr id="7" name="Text 5"/>
          <p:cNvSpPr/>
          <p:nvPr/>
        </p:nvSpPr>
        <p:spPr>
          <a:xfrm>
            <a:off x="457200" y="5486400"/>
            <a:ext cx="11247120" cy="365760"/>
          </a:xfrm>
          <a:prstGeom prst="rect">
            <a:avLst/>
          </a:prstGeom>
          <a:noFill/>
          <a:ln/>
        </p:spPr>
        <p:txBody>
          <a:bodyPr wrap="square"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Why brace initialization?</a:t>
            </a:r>
            <a:endParaRPr lang="en-US" sz="1600" dirty="0"/>
          </a:p>
        </p:txBody>
      </p:sp>
      <p:sp>
        <p:nvSpPr>
          <p:cNvPr id="8" name="Text 6"/>
          <p:cNvSpPr/>
          <p:nvPr/>
        </p:nvSpPr>
        <p:spPr>
          <a:xfrm>
            <a:off x="457200" y="5852160"/>
            <a:ext cx="8229600" cy="45720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It rejects narrowing conversions (double → int) at compile time, it disambiguates "this is a function declaration" vs. "this is a variable", and it works uniformly for built-ins, classes, and containers. Adopt the habit.</a:t>
            </a:r>
            <a:endParaRPr lang="en-US" sz="1300" dirty="0"/>
          </a:p>
        </p:txBody>
      </p:sp>
      <p:sp>
        <p:nvSpPr>
          <p:cNvPr id="9" name="Shape 7"/>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0" name="Text 8"/>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§8</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const, auto, and decltype — three keywords you will see daily</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11247120" cy="429768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10881360" cy="4023360"/>
          </a:xfrm>
          <a:prstGeom prst="rect">
            <a:avLst/>
          </a:prstGeom>
          <a:noFill/>
          <a:ln/>
        </p:spPr>
        <p:txBody>
          <a:bodyPr wrap="square" rtlCol="0" anchor="t"/>
          <a:lstStyle/>
          <a:p>
            <a:pPr marL="0" indent="0">
              <a:buNone/>
            </a:pPr>
            <a:r>
              <a:rPr lang="en-US" sz="1300" dirty="0">
                <a:solidFill>
                  <a:srgbClr val="1F2937"/>
                </a:solidFill>
                <a:latin typeface="Courier New" pitchFamily="34" charset="0"/>
                <a:ea typeface="Courier New" pitchFamily="34" charset="-122"/>
                <a:cs typeface="Courier New" pitchFamily="34" charset="-120"/>
              </a:rPr>
              <a:t>// const — the value will not change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const int MAX_USERS = 1000;</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MAX_USERS = 2000;     // ERROR</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auto — let the compiler deduce the type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auto x = 42;             // x is int</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auto pi = 3.14;          // pi is double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auto msg = std::string{"hi"};   // msg is std::string</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decltype — pull the type FROM an expression</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n = 7;</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decltype(n) m = 14;      // m is int, like n</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decltype(n + 1.0) d = 0; // d is double — the type of n+1.0</a:t>
            </a:r>
            <a:endParaRPr lang="en-US" sz="1300" dirty="0"/>
          </a:p>
        </p:txBody>
      </p:sp>
      <p:sp>
        <p:nvSpPr>
          <p:cNvPr id="6" name="Text 4"/>
          <p:cNvSpPr/>
          <p:nvPr/>
        </p:nvSpPr>
        <p:spPr>
          <a:xfrm>
            <a:off x="457200" y="5760720"/>
            <a:ext cx="8229600" cy="54864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auto saves typing for long types like std::map&lt;std::string, std::vector&lt;int&gt;&gt;::iterator. Use it. But prefer explicit types when the deduction is non-obvious to a reader.</a:t>
            </a:r>
            <a:endParaRPr lang="en-US" sz="1300" dirty="0"/>
          </a:p>
        </p:txBody>
      </p:sp>
      <p:sp>
        <p:nvSpPr>
          <p:cNvPr id="7" name="Shape 5"/>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8" name="Text 6"/>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§9</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4572000" cy="6446520"/>
          </a:xfrm>
          <a:prstGeom prst="rect">
            <a:avLst/>
          </a:prstGeom>
          <a:solidFill>
            <a:srgbClr val="002060"/>
          </a:solidFill>
          <a:ln/>
        </p:spPr>
        <p:txBody>
          <a:bodyPr/>
          <a:lstStyle/>
          <a:p>
            <a:endParaRPr lang="en-US"/>
          </a:p>
        </p:txBody>
      </p:sp>
      <p:sp>
        <p:nvSpPr>
          <p:cNvPr id="3" name="Text 1"/>
          <p:cNvSpPr/>
          <p:nvPr/>
        </p:nvSpPr>
        <p:spPr>
          <a:xfrm>
            <a:off x="548640" y="2194560"/>
            <a:ext cx="3657600" cy="45720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SECTION 3</a:t>
            </a:r>
            <a:endParaRPr lang="en-US" sz="1400" dirty="0"/>
          </a:p>
        </p:txBody>
      </p:sp>
      <p:sp>
        <p:nvSpPr>
          <p:cNvPr id="4" name="Text 2"/>
          <p:cNvSpPr/>
          <p:nvPr/>
        </p:nvSpPr>
        <p:spPr>
          <a:xfrm>
            <a:off x="548640" y="2697480"/>
            <a:ext cx="3657600" cy="1463040"/>
          </a:xfrm>
          <a:prstGeom prst="rect">
            <a:avLst/>
          </a:prstGeom>
          <a:noFill/>
          <a:ln/>
        </p:spPr>
        <p:txBody>
          <a:bodyPr wrap="square"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Pointers, References &amp; Arrays</a:t>
            </a:r>
            <a:endParaRPr lang="en-US" sz="3000" dirty="0"/>
          </a:p>
        </p:txBody>
      </p:sp>
      <p:sp>
        <p:nvSpPr>
          <p:cNvPr id="5" name="Text 3"/>
          <p:cNvSpPr/>
          <p:nvPr/>
        </p:nvSpPr>
        <p:spPr>
          <a:xfrm>
            <a:off x="5120640" y="2468880"/>
            <a:ext cx="6583680" cy="2194560"/>
          </a:xfrm>
          <a:prstGeom prst="rect">
            <a:avLst/>
          </a:prstGeom>
          <a:noFill/>
          <a:ln/>
        </p:spPr>
        <p:txBody>
          <a:bodyPr wrap="square" rtlCol="0" anchor="t"/>
          <a:lstStyle/>
          <a:p>
            <a:pPr marL="0" indent="0">
              <a:buNone/>
            </a:pPr>
            <a:r>
              <a:rPr lang="en-US" sz="1800" dirty="0">
                <a:solidFill>
                  <a:srgbClr val="404040"/>
                </a:solidFill>
                <a:latin typeface="Calibri" pitchFamily="34" charset="0"/>
                <a:ea typeface="Calibri" pitchFamily="34" charset="-122"/>
                <a:cs typeface="Calibri" pitchFamily="34" charset="-120"/>
              </a:rPr>
              <a:t>The three faces of memory access in C++. This is the section that separates C++ programmers from beginners.</a:t>
            </a:r>
            <a:endParaRPr lang="en-US" sz="1800" dirty="0"/>
          </a:p>
        </p:txBody>
      </p:sp>
      <p:sp>
        <p:nvSpPr>
          <p:cNvPr id="6" name="Shape 4"/>
          <p:cNvSpPr/>
          <p:nvPr/>
        </p:nvSpPr>
        <p:spPr>
          <a:xfrm>
            <a:off x="5120640" y="2194560"/>
            <a:ext cx="548640" cy="73152"/>
          </a:xfrm>
          <a:prstGeom prst="rect">
            <a:avLst/>
          </a:prstGeom>
          <a:solidFill>
            <a:srgbClr val="C00000"/>
          </a:solidFill>
          <a:ln/>
        </p:spPr>
        <p:txBody>
          <a:bodyPr/>
          <a:lstStyle/>
          <a:p>
            <a:endParaRPr lang="en-US"/>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References — a second name for the same object</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7315200" cy="228600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6949440" cy="2011680"/>
          </a:xfrm>
          <a:prstGeom prst="rect">
            <a:avLst/>
          </a:prstGeom>
          <a:noFill/>
          <a:ln/>
        </p:spPr>
        <p:txBody>
          <a:bodyPr wrap="square" rtlCol="0" anchor="t"/>
          <a:lstStyle/>
          <a:p>
            <a:pPr marL="0" indent="0">
              <a:buNone/>
            </a:pPr>
            <a:r>
              <a:rPr lang="en-US" sz="1700" dirty="0">
                <a:solidFill>
                  <a:srgbClr val="1F2937"/>
                </a:solidFill>
                <a:latin typeface="Courier New" pitchFamily="34" charset="0"/>
                <a:ea typeface="Courier New" pitchFamily="34" charset="-122"/>
                <a:cs typeface="Courier New" pitchFamily="34" charset="-120"/>
              </a:rPr>
              <a:t>int  x   = 100;</a:t>
            </a:r>
            <a:endParaRPr lang="en-US" sz="1700" dirty="0"/>
          </a:p>
          <a:p>
            <a:pPr marL="0" indent="0">
              <a:buNone/>
            </a:pPr>
            <a:r>
              <a:rPr lang="en-US" sz="1700" dirty="0">
                <a:solidFill>
                  <a:srgbClr val="1F2937"/>
                </a:solidFill>
                <a:latin typeface="Courier New" pitchFamily="34" charset="0"/>
                <a:ea typeface="Courier New" pitchFamily="34" charset="-122"/>
                <a:cs typeface="Courier New" pitchFamily="34" charset="-120"/>
              </a:rPr>
              <a:t>int&amp; ref = x;     // ref is an alias for x — not a copy</a:t>
            </a:r>
            <a:endParaRPr lang="en-US" sz="1700" dirty="0"/>
          </a:p>
          <a:p>
            <a:pPr marL="0" indent="0">
              <a:buNone/>
            </a:pPr>
            <a:endParaRPr lang="en-US" sz="1700" dirty="0"/>
          </a:p>
          <a:p>
            <a:pPr marL="0" indent="0">
              <a:buNone/>
            </a:pPr>
            <a:r>
              <a:rPr lang="en-US" sz="1700" dirty="0">
                <a:solidFill>
                  <a:srgbClr val="1F2937"/>
                </a:solidFill>
                <a:latin typeface="Courier New" pitchFamily="34" charset="0"/>
                <a:ea typeface="Courier New" pitchFamily="34" charset="-122"/>
                <a:cs typeface="Courier New" pitchFamily="34" charset="-120"/>
              </a:rPr>
              <a:t>ref = 200;        // x is now 200 too</a:t>
            </a:r>
            <a:endParaRPr lang="en-US" sz="1700" dirty="0"/>
          </a:p>
          <a:p>
            <a:pPr marL="0" indent="0">
              <a:buNone/>
            </a:pPr>
            <a:r>
              <a:rPr lang="en-US" sz="1700" dirty="0">
                <a:solidFill>
                  <a:srgbClr val="1F2937"/>
                </a:solidFill>
                <a:latin typeface="Courier New" pitchFamily="34" charset="0"/>
                <a:ea typeface="Courier New" pitchFamily="34" charset="-122"/>
                <a:cs typeface="Courier New" pitchFamily="34" charset="-120"/>
              </a:rPr>
              <a:t>std::cout &lt;&lt; x;   // prints 200</a:t>
            </a:r>
            <a:endParaRPr lang="en-US" sz="1700" dirty="0"/>
          </a:p>
        </p:txBody>
      </p:sp>
      <p:sp>
        <p:nvSpPr>
          <p:cNvPr id="6" name="Text 4"/>
          <p:cNvSpPr/>
          <p:nvPr/>
        </p:nvSpPr>
        <p:spPr>
          <a:xfrm>
            <a:off x="457200" y="3840480"/>
            <a:ext cx="10972800" cy="365760"/>
          </a:xfrm>
          <a:prstGeom prst="rect">
            <a:avLst/>
          </a:prstGeom>
          <a:noFill/>
          <a:ln/>
        </p:spPr>
        <p:txBody>
          <a:bodyPr wrap="square" rtlCol="0" anchor="ctr"/>
          <a:lstStyle/>
          <a:p>
            <a:pPr marL="0" indent="0">
              <a:buNone/>
            </a:pPr>
            <a:r>
              <a:rPr lang="en-US" sz="1800" b="1" dirty="0">
                <a:solidFill>
                  <a:srgbClr val="C00000"/>
                </a:solidFill>
                <a:latin typeface="Calibri" pitchFamily="34" charset="0"/>
                <a:ea typeface="Calibri" pitchFamily="34" charset="-122"/>
                <a:cs typeface="Calibri" pitchFamily="34" charset="-120"/>
              </a:rPr>
              <a:t>Three rules to remember</a:t>
            </a:r>
            <a:endParaRPr lang="en-US" sz="1800" dirty="0"/>
          </a:p>
        </p:txBody>
      </p:sp>
      <p:sp>
        <p:nvSpPr>
          <p:cNvPr id="7" name="Text 5"/>
          <p:cNvSpPr/>
          <p:nvPr/>
        </p:nvSpPr>
        <p:spPr>
          <a:xfrm>
            <a:off x="457200" y="4206240"/>
            <a:ext cx="11247120" cy="1920240"/>
          </a:xfrm>
          <a:prstGeom prst="rect">
            <a:avLst/>
          </a:prstGeom>
          <a:noFill/>
          <a:ln/>
        </p:spPr>
        <p:txBody>
          <a:bodyPr wrap="square" rtlCol="0" anchor="t"/>
          <a:lstStyle/>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A reference must be initialized at declaration. There is no "null reference."</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Once bound, a reference can never be re-bound. It follows that object for life.</a:t>
            </a:r>
            <a:endParaRPr lang="en-US" sz="1500" dirty="0"/>
          </a:p>
          <a:p>
            <a:pPr marL="342900" indent="-342900">
              <a:buSzPct val="100000"/>
              <a:buChar char="■"/>
            </a:pPr>
            <a:r>
              <a:rPr lang="en-US" sz="1500" dirty="0">
                <a:solidFill>
                  <a:srgbClr val="404040"/>
                </a:solidFill>
                <a:latin typeface="Calibri" pitchFamily="34" charset="0"/>
                <a:ea typeface="Calibri" pitchFamily="34" charset="-122"/>
                <a:cs typeface="Calibri" pitchFamily="34" charset="-120"/>
              </a:rPr>
              <a:t>Pass-by-reference (void f(int&amp; x)) avoids copying — essential for large objects we will meet in Week 2.</a:t>
            </a:r>
            <a:endParaRPr lang="en-US" sz="1500" dirty="0"/>
          </a:p>
        </p:txBody>
      </p:sp>
      <p:sp>
        <p:nvSpPr>
          <p:cNvPr id="8" name="Shape 6"/>
          <p:cNvSpPr/>
          <p:nvPr/>
        </p:nvSpPr>
        <p:spPr>
          <a:xfrm>
            <a:off x="8046720" y="1371600"/>
            <a:ext cx="3657600" cy="2103120"/>
          </a:xfrm>
          <a:prstGeom prst="rect">
            <a:avLst/>
          </a:prstGeom>
          <a:solidFill>
            <a:srgbClr val="FBE9D8"/>
          </a:solidFill>
          <a:ln w="12700">
            <a:solidFill>
              <a:srgbClr val="C99B2D"/>
            </a:solidFill>
            <a:prstDash val="solid"/>
          </a:ln>
        </p:spPr>
        <p:txBody>
          <a:bodyPr/>
          <a:lstStyle/>
          <a:p>
            <a:endParaRPr lang="en-US"/>
          </a:p>
        </p:txBody>
      </p:sp>
      <p:sp>
        <p:nvSpPr>
          <p:cNvPr id="9" name="Text 7"/>
          <p:cNvSpPr/>
          <p:nvPr/>
        </p:nvSpPr>
        <p:spPr>
          <a:xfrm>
            <a:off x="8229600" y="1463040"/>
            <a:ext cx="3291840" cy="274320"/>
          </a:xfrm>
          <a:prstGeom prst="rect">
            <a:avLst/>
          </a:prstGeom>
          <a:noFill/>
          <a:ln/>
        </p:spPr>
        <p:txBody>
          <a:bodyPr wrap="square" rtlCol="0" anchor="ctr"/>
          <a:lstStyle/>
          <a:p>
            <a:pPr marL="0" indent="0">
              <a:buNone/>
            </a:pPr>
            <a:r>
              <a:rPr lang="en-US" sz="1100" b="1" kern="0" spc="300" dirty="0">
                <a:solidFill>
                  <a:srgbClr val="C99B2D"/>
                </a:solidFill>
                <a:latin typeface="Calibri" pitchFamily="34" charset="0"/>
                <a:ea typeface="Calibri" pitchFamily="34" charset="-122"/>
                <a:cs typeface="Calibri" pitchFamily="34" charset="-120"/>
              </a:rPr>
              <a:t>REAL-WORLD ANALOGY</a:t>
            </a:r>
            <a:endParaRPr lang="en-US" sz="1100" dirty="0"/>
          </a:p>
        </p:txBody>
      </p:sp>
      <p:sp>
        <p:nvSpPr>
          <p:cNvPr id="10" name="Text 8"/>
          <p:cNvSpPr/>
          <p:nvPr/>
        </p:nvSpPr>
        <p:spPr>
          <a:xfrm>
            <a:off x="8229600" y="1783080"/>
            <a:ext cx="3291840" cy="365760"/>
          </a:xfrm>
          <a:prstGeom prst="rect">
            <a:avLst/>
          </a:prstGeom>
          <a:noFill/>
          <a:ln/>
        </p:spPr>
        <p:txBody>
          <a:bodyPr wrap="square" rtlCol="0" anchor="ctr"/>
          <a:lstStyle/>
          <a:p>
            <a:pPr marL="0" indent="0">
              <a:buNone/>
            </a:pPr>
            <a:r>
              <a:rPr lang="en-US" sz="1600" b="1" dirty="0">
                <a:solidFill>
                  <a:srgbClr val="6B4D1B"/>
                </a:solidFill>
                <a:latin typeface="Calibri" pitchFamily="34" charset="0"/>
                <a:ea typeface="Calibri" pitchFamily="34" charset="-122"/>
                <a:cs typeface="Calibri" pitchFamily="34" charset="-120"/>
              </a:rPr>
              <a:t>A nickname</a:t>
            </a:r>
            <a:endParaRPr lang="en-US" sz="1600" dirty="0"/>
          </a:p>
        </p:txBody>
      </p:sp>
      <p:sp>
        <p:nvSpPr>
          <p:cNvPr id="11" name="Text 9"/>
          <p:cNvSpPr/>
          <p:nvPr/>
        </p:nvSpPr>
        <p:spPr>
          <a:xfrm>
            <a:off x="8229600" y="2148840"/>
            <a:ext cx="3291840" cy="1234440"/>
          </a:xfrm>
          <a:prstGeom prst="rect">
            <a:avLst/>
          </a:prstGeom>
          <a:noFill/>
          <a:ln/>
        </p:spPr>
        <p:txBody>
          <a:bodyPr wrap="square" rtlCol="0" anchor="t"/>
          <a:lstStyle/>
          <a:p>
            <a:pPr marL="0" indent="0">
              <a:buNone/>
            </a:pPr>
            <a:r>
              <a:rPr lang="en-US" sz="1300" dirty="0">
                <a:solidFill>
                  <a:srgbClr val="404040"/>
                </a:solidFill>
                <a:latin typeface="Calibri" pitchFamily="34" charset="0"/>
                <a:ea typeface="Calibri" pitchFamily="34" charset="-122"/>
                <a:cs typeface="Calibri" pitchFamily="34" charset="-120"/>
              </a:rPr>
              <a:t>"Bob" and "Robert" are two names for the same person. A reference is a nickname for an object — both names reach the same memory.</a:t>
            </a:r>
            <a:endParaRPr lang="en-US" sz="1300" dirty="0"/>
          </a:p>
        </p:txBody>
      </p:sp>
      <p:sp>
        <p:nvSpPr>
          <p:cNvPr id="12" name="Shape 10"/>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3" name="Text 11"/>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§10</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Pointers — variables that hold addresses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1188720"/>
            <a:ext cx="6949440" cy="4937760"/>
          </a:xfrm>
          <a:prstGeom prst="rect">
            <a:avLst/>
          </a:prstGeom>
          <a:noFill/>
          <a:ln/>
        </p:spPr>
        <p:txBody>
          <a:bodyPr wrap="square" rtlCol="0" anchor="t"/>
          <a:lstStyle/>
          <a:p>
            <a:pPr marL="0" indent="0">
              <a:spcAft>
                <a:spcPts val="1200"/>
              </a:spcAft>
              <a:buNone/>
            </a:pPr>
            <a:r>
              <a:rPr lang="en-US" sz="1800" dirty="0">
                <a:solidFill>
                  <a:srgbClr val="404040"/>
                </a:solidFill>
                <a:latin typeface="Calibri" pitchFamily="34" charset="0"/>
                <a:ea typeface="Calibri" pitchFamily="34" charset="-122"/>
                <a:cs typeface="Calibri" pitchFamily="34" charset="-120"/>
              </a:rPr>
              <a:t>A pointer is a variable whose value is the memory address of another variable.</a:t>
            </a:r>
            <a:r>
              <a:rPr lang="en-US" sz="1800" dirty="0">
                <a:solidFill>
                  <a:srgbClr val="002060"/>
                </a:solidFill>
                <a:latin typeface="Courier New" pitchFamily="34" charset="0"/>
                <a:ea typeface="Courier New" pitchFamily="34" charset="-122"/>
                <a:cs typeface="Courier New" pitchFamily="34" charset="-120"/>
              </a:rPr>
              <a:t>int  x = 42;</a:t>
            </a:r>
            <a:endParaRPr lang="en-US" sz="1800" dirty="0"/>
          </a:p>
          <a:p>
            <a:pPr marL="0" indent="0">
              <a:spcAft>
                <a:spcPts val="400"/>
              </a:spcAft>
              <a:buNone/>
            </a:pPr>
            <a:r>
              <a:rPr lang="en-US" sz="1800" dirty="0">
                <a:solidFill>
                  <a:srgbClr val="002060"/>
                </a:solidFill>
                <a:latin typeface="Courier New" pitchFamily="34" charset="0"/>
                <a:ea typeface="Courier New" pitchFamily="34" charset="-122"/>
                <a:cs typeface="Courier New" pitchFamily="34" charset="-120"/>
              </a:rPr>
              <a:t>int* p = &amp;x;        // p points to x</a:t>
            </a:r>
            <a:endParaRPr lang="en-US" sz="1800" dirty="0"/>
          </a:p>
          <a:p>
            <a:pPr marL="0" indent="0">
              <a:spcAft>
                <a:spcPts val="1200"/>
              </a:spcAft>
              <a:buNone/>
            </a:pPr>
            <a:r>
              <a:rPr lang="en-US" sz="1800" dirty="0">
                <a:solidFill>
                  <a:srgbClr val="002060"/>
                </a:solidFill>
                <a:latin typeface="Courier New" pitchFamily="34" charset="0"/>
                <a:ea typeface="Courier New" pitchFamily="34" charset="-122"/>
                <a:cs typeface="Courier New" pitchFamily="34" charset="-120"/>
              </a:rPr>
              <a:t>std::cout &lt;&lt; *p;    // 42  — dereference</a:t>
            </a:r>
            <a:endParaRPr lang="en-US" sz="1800" dirty="0"/>
          </a:p>
          <a:p>
            <a:pPr marL="0" indent="0">
              <a:spcAft>
                <a:spcPts val="600"/>
              </a:spcAft>
              <a:buNone/>
            </a:pPr>
            <a:r>
              <a:rPr lang="en-US" sz="1600" b="1" dirty="0">
                <a:solidFill>
                  <a:srgbClr val="C00000"/>
                </a:solidFill>
                <a:latin typeface="Calibri" pitchFamily="34" charset="0"/>
                <a:ea typeface="Calibri" pitchFamily="34" charset="-122"/>
                <a:cs typeface="Calibri" pitchFamily="34" charset="-120"/>
              </a:rPr>
              <a:t>Three operators do all the work:</a:t>
            </a:r>
            <a:endParaRPr lang="en-US" sz="1800" dirty="0"/>
          </a:p>
          <a:p>
            <a:pPr marL="0" indent="0">
              <a:buNone/>
            </a:pPr>
            <a:r>
              <a:rPr lang="en-US" sz="1500" dirty="0">
                <a:solidFill>
                  <a:srgbClr val="404040"/>
                </a:solidFill>
                <a:latin typeface="Courier New" pitchFamily="34" charset="0"/>
                <a:ea typeface="Courier New" pitchFamily="34" charset="-122"/>
                <a:cs typeface="Courier New" pitchFamily="34" charset="-120"/>
              </a:rPr>
              <a:t>&amp;  — address-of</a:t>
            </a:r>
            <a:endParaRPr lang="en-US" sz="1800" dirty="0"/>
          </a:p>
          <a:p>
            <a:pPr marL="0" indent="0">
              <a:buNone/>
            </a:pPr>
            <a:r>
              <a:rPr lang="en-US" sz="1500" dirty="0">
                <a:solidFill>
                  <a:srgbClr val="404040"/>
                </a:solidFill>
                <a:latin typeface="Courier New" pitchFamily="34" charset="0"/>
                <a:ea typeface="Courier New" pitchFamily="34" charset="-122"/>
                <a:cs typeface="Courier New" pitchFamily="34" charset="-120"/>
              </a:rPr>
              <a:t>*  — declares a pointer  AND  dereferences one (overloaded by context)</a:t>
            </a:r>
            <a:endParaRPr lang="en-US" sz="1800" dirty="0"/>
          </a:p>
          <a:p>
            <a:pPr marL="0" indent="0">
              <a:buNone/>
            </a:pPr>
            <a:r>
              <a:rPr lang="en-US" sz="1500" dirty="0">
                <a:solidFill>
                  <a:srgbClr val="404040"/>
                </a:solidFill>
                <a:latin typeface="Courier New" pitchFamily="34" charset="0"/>
                <a:ea typeface="Courier New" pitchFamily="34" charset="-122"/>
                <a:cs typeface="Courier New" pitchFamily="34" charset="-120"/>
              </a:rPr>
              <a:t>-&gt; — "dereference and access member" — equivalent to (*p).field</a:t>
            </a:r>
            <a:endParaRPr lang="en-US" sz="1800" dirty="0"/>
          </a:p>
        </p:txBody>
      </p:sp>
      <p:sp>
        <p:nvSpPr>
          <p:cNvPr id="5" name="Shape 3"/>
          <p:cNvSpPr/>
          <p:nvPr/>
        </p:nvSpPr>
        <p:spPr>
          <a:xfrm>
            <a:off x="7680960" y="1371600"/>
            <a:ext cx="4023360" cy="2743200"/>
          </a:xfrm>
          <a:prstGeom prst="rect">
            <a:avLst/>
          </a:prstGeom>
          <a:solidFill>
            <a:srgbClr val="FBE9D8"/>
          </a:solidFill>
          <a:ln w="12700">
            <a:solidFill>
              <a:srgbClr val="C99B2D"/>
            </a:solidFill>
            <a:prstDash val="solid"/>
          </a:ln>
        </p:spPr>
        <p:txBody>
          <a:bodyPr/>
          <a:lstStyle/>
          <a:p>
            <a:endParaRPr lang="en-US"/>
          </a:p>
        </p:txBody>
      </p:sp>
      <p:sp>
        <p:nvSpPr>
          <p:cNvPr id="6" name="Text 4"/>
          <p:cNvSpPr/>
          <p:nvPr/>
        </p:nvSpPr>
        <p:spPr>
          <a:xfrm>
            <a:off x="7863840" y="1463040"/>
            <a:ext cx="3657600" cy="274320"/>
          </a:xfrm>
          <a:prstGeom prst="rect">
            <a:avLst/>
          </a:prstGeom>
          <a:noFill/>
          <a:ln/>
        </p:spPr>
        <p:txBody>
          <a:bodyPr wrap="square" rtlCol="0" anchor="ctr"/>
          <a:lstStyle/>
          <a:p>
            <a:pPr marL="0" indent="0">
              <a:buNone/>
            </a:pPr>
            <a:r>
              <a:rPr lang="en-US" sz="1100" b="1" kern="0" spc="300" dirty="0">
                <a:solidFill>
                  <a:srgbClr val="C99B2D"/>
                </a:solidFill>
                <a:latin typeface="Calibri" pitchFamily="34" charset="0"/>
                <a:ea typeface="Calibri" pitchFamily="34" charset="-122"/>
                <a:cs typeface="Calibri" pitchFamily="34" charset="-120"/>
              </a:rPr>
              <a:t>REAL-WORLD ANALOGY</a:t>
            </a:r>
            <a:endParaRPr lang="en-US" sz="1100" dirty="0"/>
          </a:p>
        </p:txBody>
      </p:sp>
      <p:sp>
        <p:nvSpPr>
          <p:cNvPr id="7" name="Text 5"/>
          <p:cNvSpPr/>
          <p:nvPr/>
        </p:nvSpPr>
        <p:spPr>
          <a:xfrm>
            <a:off x="7863840" y="1783080"/>
            <a:ext cx="3657600" cy="365760"/>
          </a:xfrm>
          <a:prstGeom prst="rect">
            <a:avLst/>
          </a:prstGeom>
          <a:noFill/>
          <a:ln/>
        </p:spPr>
        <p:txBody>
          <a:bodyPr wrap="square" rtlCol="0" anchor="ctr"/>
          <a:lstStyle/>
          <a:p>
            <a:pPr marL="0" indent="0">
              <a:buNone/>
            </a:pPr>
            <a:r>
              <a:rPr lang="en-US" sz="1600" b="1" dirty="0">
                <a:solidFill>
                  <a:srgbClr val="6B4D1B"/>
                </a:solidFill>
                <a:latin typeface="Calibri" pitchFamily="34" charset="0"/>
                <a:ea typeface="Calibri" pitchFamily="34" charset="-122"/>
                <a:cs typeface="Calibri" pitchFamily="34" charset="-120"/>
              </a:rPr>
              <a:t>House addresses</a:t>
            </a:r>
            <a:endParaRPr lang="en-US" sz="1600" dirty="0"/>
          </a:p>
        </p:txBody>
      </p:sp>
      <p:sp>
        <p:nvSpPr>
          <p:cNvPr id="8" name="Text 6"/>
          <p:cNvSpPr/>
          <p:nvPr/>
        </p:nvSpPr>
        <p:spPr>
          <a:xfrm>
            <a:off x="7863840" y="2148840"/>
            <a:ext cx="3657600" cy="1874520"/>
          </a:xfrm>
          <a:prstGeom prst="rect">
            <a:avLst/>
          </a:prstGeom>
          <a:noFill/>
          <a:ln/>
        </p:spPr>
        <p:txBody>
          <a:bodyPr wrap="square" rtlCol="0" anchor="t"/>
          <a:lstStyle/>
          <a:p>
            <a:pPr marL="0" indent="0">
              <a:buNone/>
            </a:pPr>
            <a:r>
              <a:rPr lang="en-US" sz="1300" dirty="0">
                <a:solidFill>
                  <a:srgbClr val="404040"/>
                </a:solidFill>
                <a:latin typeface="Calibri" pitchFamily="34" charset="0"/>
                <a:ea typeface="Calibri" pitchFamily="34" charset="-122"/>
                <a:cs typeface="Calibri" pitchFamily="34" charset="-120"/>
              </a:rPr>
              <a:t>Your house is a variable. The address ("42 Maple St.") is what a pointer holds. &amp; gets the address; * uses the address to walk to the front door and look inside.</a:t>
            </a:r>
            <a:endParaRPr lang="en-US" sz="1300" dirty="0"/>
          </a:p>
        </p:txBody>
      </p:sp>
      <p:sp>
        <p:nvSpPr>
          <p:cNvPr id="9" name="Text 7"/>
          <p:cNvSpPr/>
          <p:nvPr/>
        </p:nvSpPr>
        <p:spPr>
          <a:xfrm>
            <a:off x="7680960" y="4297680"/>
            <a:ext cx="4023360" cy="1371600"/>
          </a:xfrm>
          <a:prstGeom prst="rect">
            <a:avLst/>
          </a:prstGeom>
          <a:noFill/>
          <a:ln/>
        </p:spPr>
        <p:txBody>
          <a:bodyPr wrap="square" rtlCol="0" anchor="t"/>
          <a:lstStyle/>
          <a:p>
            <a:pPr marL="0" indent="0">
              <a:buNone/>
            </a:pPr>
            <a:r>
              <a:rPr lang="en-US" sz="1300" i="1" dirty="0">
                <a:solidFill>
                  <a:srgbClr val="595959"/>
                </a:solidFill>
                <a:latin typeface="Calibri" pitchFamily="34" charset="0"/>
                <a:ea typeface="Calibri" pitchFamily="34" charset="-122"/>
                <a:cs typeface="Calibri" pitchFamily="34" charset="-120"/>
              </a:rPr>
              <a:t>Pointers are why C++ is fast — and why we spend Weeks 6–9 making sure you respect them.</a:t>
            </a:r>
            <a:endParaRPr lang="en-US" sz="1300" dirty="0"/>
          </a:p>
        </p:txBody>
      </p:sp>
      <p:sp>
        <p:nvSpPr>
          <p:cNvPr id="10" name="Shape 8"/>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1" name="Text 9"/>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§11</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nullptr, dangling pointers &amp; dereference safety</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11247120" cy="429768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10881360" cy="4023360"/>
          </a:xfrm>
          <a:prstGeom prst="rect">
            <a:avLst/>
          </a:prstGeom>
          <a:noFill/>
          <a:ln/>
        </p:spPr>
        <p:txBody>
          <a:bodyPr wrap="square" rtlCol="0" anchor="t"/>
          <a:lstStyle/>
          <a:p>
            <a:pPr marL="0" indent="0">
              <a:buNone/>
            </a:pPr>
            <a:r>
              <a:rPr lang="en-US" sz="1300" dirty="0">
                <a:solidFill>
                  <a:srgbClr val="1F2937"/>
                </a:solidFill>
                <a:latin typeface="Courier New" pitchFamily="34" charset="0"/>
                <a:ea typeface="Courier New" pitchFamily="34" charset="-122"/>
                <a:cs typeface="Courier New" pitchFamily="34" charset="-120"/>
              </a:rPr>
              <a:t>int* p = nullptr;          // good — explicitly "points at nothing"</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std::cout &lt;&lt; *p;        // CRASH — dereferencing nullptr</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x = 7;</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p = &amp;x;</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std::cout &lt;&lt; *p;            // 7</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p = nullptr;                // safe — we are saying "I'm done with this address"</a:t>
            </a:r>
            <a:endParaRPr lang="en-US" sz="1300" dirty="0"/>
          </a:p>
          <a:p>
            <a:pPr marL="0" indent="0">
              <a:buNone/>
            </a:pP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DANGLING pointer example:</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int* danger;</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int local = 99;</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danger = &amp;local;        // local is on the stack of this block</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 local dies here — danger is now DANGLING</a:t>
            </a:r>
            <a:endParaRPr lang="en-US" sz="1300" dirty="0"/>
          </a:p>
          <a:p>
            <a:pPr marL="0" indent="0">
              <a:buNone/>
            </a:pPr>
            <a:r>
              <a:rPr lang="en-US" sz="1300" dirty="0">
                <a:solidFill>
                  <a:srgbClr val="1F2937"/>
                </a:solidFill>
                <a:latin typeface="Courier New" pitchFamily="34" charset="0"/>
                <a:ea typeface="Courier New" pitchFamily="34" charset="-122"/>
                <a:cs typeface="Courier New" pitchFamily="34" charset="-120"/>
              </a:rPr>
              <a:t>// std::cout &lt;&lt; *danger;   // UNDEFINED BEHAVIOUR — silent corruption</a:t>
            </a:r>
            <a:endParaRPr lang="en-US" sz="1300" dirty="0"/>
          </a:p>
        </p:txBody>
      </p:sp>
      <p:sp>
        <p:nvSpPr>
          <p:cNvPr id="6" name="Text 4"/>
          <p:cNvSpPr/>
          <p:nvPr/>
        </p:nvSpPr>
        <p:spPr>
          <a:xfrm>
            <a:off x="457200" y="5760720"/>
            <a:ext cx="8229600" cy="548640"/>
          </a:xfrm>
          <a:prstGeom prst="rect">
            <a:avLst/>
          </a:prstGeom>
          <a:noFill/>
          <a:ln/>
        </p:spPr>
        <p:txBody>
          <a:bodyPr wrap="square" rtlCol="0" anchor="ctr"/>
          <a:lstStyle/>
          <a:p>
            <a:pPr marL="0" indent="0">
              <a:buNone/>
            </a:pPr>
            <a:r>
              <a:rPr lang="en-US" sz="1300" b="1" i="1" dirty="0">
                <a:solidFill>
                  <a:srgbClr val="C00000"/>
                </a:solidFill>
                <a:latin typeface="Calibri" pitchFamily="34" charset="0"/>
                <a:ea typeface="Calibri" pitchFamily="34" charset="-122"/>
                <a:cs typeface="Calibri" pitchFamily="34" charset="-120"/>
              </a:rPr>
              <a:t>Two habits: prefer nullptr to 0 or NULL (it has the right type); after delete (Week 2) immediately set the pointer to nullptr.</a:t>
            </a:r>
            <a:endParaRPr lang="en-US" sz="1300" dirty="0"/>
          </a:p>
        </p:txBody>
      </p:sp>
      <p:sp>
        <p:nvSpPr>
          <p:cNvPr id="7" name="Shape 5"/>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8" name="Text 6"/>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§12</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Pointer arithmetic — math on addresses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11247120" cy="402336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10881360" cy="3749040"/>
          </a:xfrm>
          <a:prstGeom prst="rect">
            <a:avLst/>
          </a:prstGeom>
          <a:noFill/>
          <a:ln/>
        </p:spPr>
        <p:txBody>
          <a:bodyPr wrap="square" rtlCol="0" anchor="t"/>
          <a:lstStyle/>
          <a:p>
            <a:pPr marL="0" indent="0">
              <a:buNone/>
            </a:pPr>
            <a:r>
              <a:rPr lang="en-US" sz="1400" dirty="0">
                <a:solidFill>
                  <a:srgbClr val="1F2937"/>
                </a:solidFill>
                <a:latin typeface="Courier New" pitchFamily="34" charset="0"/>
                <a:ea typeface="Courier New" pitchFamily="34" charset="-122"/>
                <a:cs typeface="Courier New" pitchFamily="34" charset="-120"/>
              </a:rPr>
              <a:t>int nums[5] = { 10, 20, 30, 40, 50 };</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int* p = nums;              // p points to nums[0]</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*p;            // 10</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p = p + 1;                  // ADVANCE by sizeof(int) bytes (4 on x64)</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*p;            // 20</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++p;                        // p now points to nums[2]</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*p;            // 30</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p - nums;      // 2 — distance in ELEMENTS, not bytes</a:t>
            </a:r>
            <a:endParaRPr lang="en-US" sz="1400" dirty="0"/>
          </a:p>
        </p:txBody>
      </p:sp>
      <p:sp>
        <p:nvSpPr>
          <p:cNvPr id="6" name="Text 4"/>
          <p:cNvSpPr/>
          <p:nvPr/>
        </p:nvSpPr>
        <p:spPr>
          <a:xfrm>
            <a:off x="457200" y="5486400"/>
            <a:ext cx="8229600" cy="64008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Pointer arithmetic scales by the size of what the pointer points to. p + 1 means "next int", not "next byte". The compiler handles the multiplication for you.</a:t>
            </a:r>
            <a:endParaRPr lang="en-US" sz="1400" dirty="0"/>
          </a:p>
        </p:txBody>
      </p:sp>
      <p:sp>
        <p:nvSpPr>
          <p:cNvPr id="7" name="Shape 5"/>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8" name="Text 6"/>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§13</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Arrays and pointers — siblings, not twins</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Shape 2"/>
          <p:cNvSpPr/>
          <p:nvPr/>
        </p:nvSpPr>
        <p:spPr>
          <a:xfrm>
            <a:off x="457200" y="1371600"/>
            <a:ext cx="10972800" cy="2194560"/>
          </a:xfrm>
          <a:prstGeom prst="rect">
            <a:avLst/>
          </a:prstGeom>
          <a:solidFill>
            <a:srgbClr val="F4F4F4"/>
          </a:solidFill>
          <a:ln w="9525">
            <a:solidFill>
              <a:srgbClr val="D9D9D9"/>
            </a:solidFill>
            <a:prstDash val="solid"/>
          </a:ln>
        </p:spPr>
        <p:txBody>
          <a:bodyPr/>
          <a:lstStyle/>
          <a:p>
            <a:endParaRPr lang="en-US"/>
          </a:p>
        </p:txBody>
      </p:sp>
      <p:sp>
        <p:nvSpPr>
          <p:cNvPr id="5" name="Text 3"/>
          <p:cNvSpPr/>
          <p:nvPr/>
        </p:nvSpPr>
        <p:spPr>
          <a:xfrm>
            <a:off x="640080" y="1508760"/>
            <a:ext cx="10607040" cy="1920240"/>
          </a:xfrm>
          <a:prstGeom prst="rect">
            <a:avLst/>
          </a:prstGeom>
          <a:noFill/>
          <a:ln/>
        </p:spPr>
        <p:txBody>
          <a:bodyPr wrap="square" rtlCol="0" anchor="t"/>
          <a:lstStyle/>
          <a:p>
            <a:pPr marL="0" indent="0">
              <a:buNone/>
            </a:pPr>
            <a:r>
              <a:rPr lang="en-US" sz="1400" dirty="0">
                <a:solidFill>
                  <a:srgbClr val="1F2937"/>
                </a:solidFill>
                <a:latin typeface="Courier New" pitchFamily="34" charset="0"/>
                <a:ea typeface="Courier New" pitchFamily="34" charset="-122"/>
                <a:cs typeface="Courier New" pitchFamily="34" charset="-120"/>
              </a:rPr>
              <a:t>int  numbers[5] = { 10, 20, 30, 40, 50 };</a:t>
            </a:r>
            <a:endParaRPr lang="en-US" sz="1400" dirty="0"/>
          </a:p>
          <a:p>
            <a:pPr marL="0" indent="0">
              <a:buNone/>
            </a:pP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int* p = numbers;        // an array name decays to a pointer to its first element</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*(p + 2);   // 30 — pointer arithmetic</a:t>
            </a:r>
            <a:endParaRPr lang="en-US" sz="1400" dirty="0"/>
          </a:p>
          <a:p>
            <a:pPr marL="0" indent="0">
              <a:buNone/>
            </a:pPr>
            <a:r>
              <a:rPr lang="en-US" sz="1400" dirty="0">
                <a:solidFill>
                  <a:srgbClr val="1F2937"/>
                </a:solidFill>
                <a:latin typeface="Courier New" pitchFamily="34" charset="0"/>
                <a:ea typeface="Courier New" pitchFamily="34" charset="-122"/>
                <a:cs typeface="Courier New" pitchFamily="34" charset="-120"/>
              </a:rPr>
              <a:t>std::cout &lt;&lt; numbers[2]; // 30 — same thing, sugar for *(numbers + 2)</a:t>
            </a:r>
            <a:endParaRPr lang="en-US" sz="1400" dirty="0"/>
          </a:p>
        </p:txBody>
      </p:sp>
      <p:sp>
        <p:nvSpPr>
          <p:cNvPr id="6" name="Text 4"/>
          <p:cNvSpPr/>
          <p:nvPr/>
        </p:nvSpPr>
        <p:spPr>
          <a:xfrm>
            <a:off x="457200" y="3657600"/>
            <a:ext cx="5486400" cy="365760"/>
          </a:xfrm>
          <a:prstGeom prst="rect">
            <a:avLst/>
          </a:prstGeom>
          <a:noFill/>
          <a:ln/>
        </p:spPr>
        <p:txBody>
          <a:bodyPr wrap="square" rtlCol="0" anchor="ctr"/>
          <a:lstStyle/>
          <a:p>
            <a:pPr marL="0" indent="0">
              <a:buNone/>
            </a:pPr>
            <a:r>
              <a:rPr lang="en-US" sz="1800" b="1" dirty="0">
                <a:solidFill>
                  <a:srgbClr val="002060"/>
                </a:solidFill>
                <a:latin typeface="Calibri" pitchFamily="34" charset="0"/>
                <a:ea typeface="Calibri" pitchFamily="34" charset="-122"/>
                <a:cs typeface="Calibri" pitchFamily="34" charset="-120"/>
              </a:rPr>
              <a:t>Arrays</a:t>
            </a:r>
            <a:endParaRPr lang="en-US" sz="1800" dirty="0"/>
          </a:p>
        </p:txBody>
      </p:sp>
      <p:sp>
        <p:nvSpPr>
          <p:cNvPr id="7" name="Text 5"/>
          <p:cNvSpPr/>
          <p:nvPr/>
        </p:nvSpPr>
        <p:spPr>
          <a:xfrm>
            <a:off x="457200" y="4023360"/>
            <a:ext cx="5486400" cy="2011680"/>
          </a:xfrm>
          <a:prstGeom prst="rect">
            <a:avLst/>
          </a:prstGeom>
          <a:noFill/>
          <a:ln/>
        </p:spPr>
        <p:txBody>
          <a:bodyPr wrap="square" rtlCol="0" anchor="t"/>
          <a:lstStyle/>
          <a:p>
            <a:pPr marL="342900" indent="-342900">
              <a:spcAft>
                <a:spcPts val="400"/>
              </a:spcAft>
              <a:buSzPct val="100000"/>
              <a:buChar char="■"/>
            </a:pPr>
            <a:r>
              <a:rPr lang="en-US" sz="1400" dirty="0">
                <a:solidFill>
                  <a:srgbClr val="404040"/>
                </a:solidFill>
                <a:latin typeface="Calibri" pitchFamily="34" charset="0"/>
                <a:ea typeface="Calibri" pitchFamily="34" charset="-122"/>
                <a:cs typeface="Calibri" pitchFamily="34" charset="-120"/>
              </a:rPr>
              <a:t>Fixed size, decided at compile time.</a:t>
            </a:r>
            <a:endParaRPr lang="en-US" sz="1400" dirty="0"/>
          </a:p>
          <a:p>
            <a:pPr marL="342900" indent="-342900">
              <a:spcAft>
                <a:spcPts val="400"/>
              </a:spcAft>
              <a:buSzPct val="100000"/>
              <a:buChar char="■"/>
            </a:pPr>
            <a:r>
              <a:rPr lang="en-US" sz="1400" dirty="0">
                <a:solidFill>
                  <a:srgbClr val="404040"/>
                </a:solidFill>
                <a:latin typeface="Calibri" pitchFamily="34" charset="0"/>
                <a:ea typeface="Calibri" pitchFamily="34" charset="-122"/>
                <a:cs typeface="Calibri" pitchFamily="34" charset="-120"/>
              </a:rPr>
              <a:t>Contiguous storage in memory.</a:t>
            </a:r>
            <a:endParaRPr lang="en-US" sz="1400" dirty="0"/>
          </a:p>
          <a:p>
            <a:pPr marL="342900" indent="-342900">
              <a:buSzPct val="100000"/>
              <a:buChar char="■"/>
            </a:pPr>
            <a:r>
              <a:rPr lang="en-US" sz="1400" dirty="0">
                <a:solidFill>
                  <a:srgbClr val="404040"/>
                </a:solidFill>
                <a:latin typeface="Calibri" pitchFamily="34" charset="0"/>
                <a:ea typeface="Calibri" pitchFamily="34" charset="-122"/>
                <a:cs typeface="Calibri" pitchFamily="34" charset="-120"/>
              </a:rPr>
              <a:t>sizeof gives the total byte count.</a:t>
            </a:r>
            <a:endParaRPr lang="en-US" sz="1400" dirty="0"/>
          </a:p>
        </p:txBody>
      </p:sp>
      <p:sp>
        <p:nvSpPr>
          <p:cNvPr id="8" name="Text 6"/>
          <p:cNvSpPr/>
          <p:nvPr/>
        </p:nvSpPr>
        <p:spPr>
          <a:xfrm>
            <a:off x="6217920" y="3657600"/>
            <a:ext cx="5212080" cy="365760"/>
          </a:xfrm>
          <a:prstGeom prst="rect">
            <a:avLst/>
          </a:prstGeom>
          <a:noFill/>
          <a:ln/>
        </p:spPr>
        <p:txBody>
          <a:bodyPr wrap="square" rtlCol="0" anchor="ctr"/>
          <a:lstStyle/>
          <a:p>
            <a:pPr marL="0" indent="0">
              <a:buNone/>
            </a:pPr>
            <a:r>
              <a:rPr lang="en-US" sz="1800" b="1" dirty="0">
                <a:solidFill>
                  <a:srgbClr val="C00000"/>
                </a:solidFill>
                <a:latin typeface="Calibri" pitchFamily="34" charset="0"/>
                <a:ea typeface="Calibri" pitchFamily="34" charset="-122"/>
                <a:cs typeface="Calibri" pitchFamily="34" charset="-120"/>
              </a:rPr>
              <a:t>Pointers</a:t>
            </a:r>
            <a:endParaRPr lang="en-US" sz="1800" dirty="0"/>
          </a:p>
        </p:txBody>
      </p:sp>
      <p:sp>
        <p:nvSpPr>
          <p:cNvPr id="9" name="Text 7"/>
          <p:cNvSpPr/>
          <p:nvPr/>
        </p:nvSpPr>
        <p:spPr>
          <a:xfrm>
            <a:off x="6217920" y="4023360"/>
            <a:ext cx="5394960" cy="1828800"/>
          </a:xfrm>
          <a:prstGeom prst="rect">
            <a:avLst/>
          </a:prstGeom>
          <a:noFill/>
          <a:ln/>
        </p:spPr>
        <p:txBody>
          <a:bodyPr wrap="square" rtlCol="0" anchor="t"/>
          <a:lstStyle/>
          <a:p>
            <a:pPr marL="342900" indent="-342900">
              <a:spcAft>
                <a:spcPts val="400"/>
              </a:spcAft>
              <a:buSzPct val="100000"/>
              <a:buChar char="■"/>
            </a:pPr>
            <a:r>
              <a:rPr lang="en-US" sz="1400" dirty="0">
                <a:solidFill>
                  <a:srgbClr val="404040"/>
                </a:solidFill>
                <a:latin typeface="Calibri" pitchFamily="34" charset="0"/>
                <a:ea typeface="Calibri" pitchFamily="34" charset="-122"/>
                <a:cs typeface="Calibri" pitchFamily="34" charset="-120"/>
              </a:rPr>
              <a:t>Hold any address — point to one or many.</a:t>
            </a:r>
            <a:endParaRPr lang="en-US" sz="1400" dirty="0"/>
          </a:p>
          <a:p>
            <a:pPr marL="342900" indent="-342900">
              <a:spcAft>
                <a:spcPts val="400"/>
              </a:spcAft>
              <a:buSzPct val="100000"/>
              <a:buChar char="■"/>
            </a:pPr>
            <a:r>
              <a:rPr lang="en-US" sz="1400" dirty="0">
                <a:solidFill>
                  <a:srgbClr val="404040"/>
                </a:solidFill>
                <a:latin typeface="Calibri" pitchFamily="34" charset="0"/>
                <a:ea typeface="Calibri" pitchFamily="34" charset="-122"/>
                <a:cs typeface="Calibri" pitchFamily="34" charset="-120"/>
              </a:rPr>
              <a:t>sizeof always returns the pointer's size (8 bytes on x64), not what it points to.</a:t>
            </a:r>
            <a:endParaRPr lang="en-US" sz="1400" dirty="0"/>
          </a:p>
          <a:p>
            <a:pPr marL="342900" indent="-342900">
              <a:buSzPct val="100000"/>
              <a:buChar char="■"/>
            </a:pPr>
            <a:r>
              <a:rPr lang="en-US" sz="1400" dirty="0">
                <a:solidFill>
                  <a:srgbClr val="404040"/>
                </a:solidFill>
                <a:latin typeface="Calibri" pitchFamily="34" charset="0"/>
                <a:ea typeface="Calibri" pitchFamily="34" charset="-122"/>
                <a:cs typeface="Calibri" pitchFamily="34" charset="-120"/>
              </a:rPr>
              <a:t>Pointer arithmetic in elements: p+1 jumps sizeof(*p) bytes.</a:t>
            </a:r>
            <a:endParaRPr lang="en-US" sz="1400" dirty="0"/>
          </a:p>
        </p:txBody>
      </p:sp>
      <p:sp>
        <p:nvSpPr>
          <p:cNvPr id="10" name="Shape 8"/>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1" name="Text 9"/>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§14</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Live coding · Pointer &amp; array playground</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I'll run this in the Visual Studio debugger so you see the memory layout step by step.</a:t>
            </a:r>
            <a:endParaRPr lang="en-US" sz="1400" dirty="0"/>
          </a:p>
        </p:txBody>
      </p:sp>
      <p:sp>
        <p:nvSpPr>
          <p:cNvPr id="5" name="Shape 3"/>
          <p:cNvSpPr/>
          <p:nvPr/>
        </p:nvSpPr>
        <p:spPr>
          <a:xfrm>
            <a:off x="457200" y="1280160"/>
            <a:ext cx="11247120" cy="4572000"/>
          </a:xfrm>
          <a:prstGeom prst="rect">
            <a:avLst/>
          </a:prstGeom>
          <a:solidFill>
            <a:srgbClr val="F4F4F4"/>
          </a:solidFill>
          <a:ln w="9525">
            <a:solidFill>
              <a:srgbClr val="D9D9D9"/>
            </a:solidFill>
            <a:prstDash val="solid"/>
          </a:ln>
        </p:spPr>
        <p:txBody>
          <a:bodyPr/>
          <a:lstStyle/>
          <a:p>
            <a:endParaRPr lang="en-US"/>
          </a:p>
        </p:txBody>
      </p:sp>
      <p:sp>
        <p:nvSpPr>
          <p:cNvPr id="6" name="Text 4"/>
          <p:cNvSpPr/>
          <p:nvPr/>
        </p:nvSpPr>
        <p:spPr>
          <a:xfrm>
            <a:off x="640080" y="1417320"/>
            <a:ext cx="10881360" cy="4297680"/>
          </a:xfrm>
          <a:prstGeom prst="rect">
            <a:avLst/>
          </a:prstGeom>
          <a:noFill/>
          <a:ln/>
        </p:spPr>
        <p:txBody>
          <a:bodyPr wrap="square" rtlCol="0" anchor="t"/>
          <a:lstStyle/>
          <a:p>
            <a:pPr marL="0" indent="0">
              <a:buNone/>
            </a:pPr>
            <a:r>
              <a:rPr lang="en-US" sz="1200" dirty="0">
                <a:solidFill>
                  <a:srgbClr val="1F2937"/>
                </a:solidFill>
                <a:latin typeface="Courier New" pitchFamily="34" charset="0"/>
                <a:ea typeface="Courier New" pitchFamily="34" charset="-122"/>
                <a:cs typeface="Courier New" pitchFamily="34" charset="-120"/>
              </a:rPr>
              <a:t>#include &lt;iostream&gt;</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int main() {</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 a[]   = { 1, 2, 3, 4, 5 };</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 p    = a;                   // p points to a[0]</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for (int i = 0; i &lt; 5; ++i)</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std::cout &lt;&lt; *(p + i) &lt;&lt; ' '; // 1 2 3 4 5</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int&amp; last = a[4];                // reference to a[4]</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last = 99;</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std::cout &lt;&lt; '\n' &lt;&lt; a[4];       // 99</a:t>
            </a:r>
            <a:endParaRPr lang="en-US" sz="1200" dirty="0"/>
          </a:p>
          <a:p>
            <a:pPr marL="0" indent="0">
              <a:buNone/>
            </a:pP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  pp  = &amp;a[0];               // pointer to first</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  end = pp + 5;              // one PAST the last — valid as a sentinel</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int   sum = 0;</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while (pp != end) sum += *pp++;  // classic pointer-walk</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std::cout &lt;&lt; '\n' &lt;&lt; sum;        // 1+2+3+4+99 = 109</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    return 0;</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8" name="Text 6"/>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§15</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C00000"/>
                </a:solidFill>
                <a:latin typeface="Calibri" pitchFamily="34" charset="0"/>
                <a:ea typeface="Calibri" pitchFamily="34" charset="-122"/>
                <a:cs typeface="Calibri" pitchFamily="34" charset="-120"/>
              </a:rPr>
              <a:t>Stack vs Heap — a preview for next week</a:t>
            </a:r>
            <a:endParaRPr lang="en-US" sz="2800" dirty="0"/>
          </a:p>
        </p:txBody>
      </p:sp>
      <p:sp>
        <p:nvSpPr>
          <p:cNvPr id="3" name="Shape 1"/>
          <p:cNvSpPr/>
          <p:nvPr/>
        </p:nvSpPr>
        <p:spPr>
          <a:xfrm>
            <a:off x="457200" y="914400"/>
            <a:ext cx="11247120" cy="0"/>
          </a:xfrm>
          <a:prstGeom prst="line">
            <a:avLst/>
          </a:prstGeom>
          <a:noFill/>
          <a:ln w="12700">
            <a:solidFill>
              <a:srgbClr val="D9D9D9"/>
            </a:solidFill>
            <a:prstDash val="solid"/>
          </a:ln>
        </p:spPr>
        <p:txBody>
          <a:bodyPr/>
          <a:lstStyle/>
          <a:p>
            <a:endParaRPr lang="en-US"/>
          </a:p>
        </p:txBody>
      </p:sp>
      <p:sp>
        <p:nvSpPr>
          <p:cNvPr id="4" name="Text 2"/>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Where do variables actually live? Two answers — we will go deep next Wednesday.</a:t>
            </a:r>
            <a:endParaRPr lang="en-US" sz="1400" dirty="0"/>
          </a:p>
        </p:txBody>
      </p:sp>
      <p:sp>
        <p:nvSpPr>
          <p:cNvPr id="5" name="Shape 3"/>
          <p:cNvSpPr/>
          <p:nvPr/>
        </p:nvSpPr>
        <p:spPr>
          <a:xfrm>
            <a:off x="457200" y="1463040"/>
            <a:ext cx="5486400" cy="4389120"/>
          </a:xfrm>
          <a:prstGeom prst="rect">
            <a:avLst/>
          </a:prstGeom>
          <a:solidFill>
            <a:srgbClr val="EEF2F7"/>
          </a:solidFill>
          <a:ln w="12700">
            <a:solidFill>
              <a:srgbClr val="002060"/>
            </a:solidFill>
            <a:prstDash val="solid"/>
          </a:ln>
        </p:spPr>
        <p:txBody>
          <a:bodyPr/>
          <a:lstStyle/>
          <a:p>
            <a:endParaRPr lang="en-US"/>
          </a:p>
        </p:txBody>
      </p:sp>
      <p:sp>
        <p:nvSpPr>
          <p:cNvPr id="6" name="Text 4"/>
          <p:cNvSpPr/>
          <p:nvPr/>
        </p:nvSpPr>
        <p:spPr>
          <a:xfrm>
            <a:off x="457200" y="1554480"/>
            <a:ext cx="5486400" cy="457200"/>
          </a:xfrm>
          <a:prstGeom prst="rect">
            <a:avLst/>
          </a:prstGeom>
          <a:noFill/>
          <a:ln/>
        </p:spPr>
        <p:txBody>
          <a:bodyPr wrap="square" rtlCol="0" anchor="ctr"/>
          <a:lstStyle/>
          <a:p>
            <a:pPr marL="0" indent="0" algn="ctr">
              <a:buNone/>
            </a:pPr>
            <a:r>
              <a:rPr lang="en-US" sz="2200" b="1" dirty="0">
                <a:solidFill>
                  <a:srgbClr val="002060"/>
                </a:solidFill>
                <a:latin typeface="Calibri" pitchFamily="34" charset="0"/>
                <a:ea typeface="Calibri" pitchFamily="34" charset="-122"/>
                <a:cs typeface="Calibri" pitchFamily="34" charset="-120"/>
              </a:rPr>
              <a:t>STACK</a:t>
            </a:r>
            <a:endParaRPr lang="en-US" sz="2200" dirty="0"/>
          </a:p>
        </p:txBody>
      </p:sp>
      <p:sp>
        <p:nvSpPr>
          <p:cNvPr id="7" name="Text 5"/>
          <p:cNvSpPr/>
          <p:nvPr/>
        </p:nvSpPr>
        <p:spPr>
          <a:xfrm>
            <a:off x="731520" y="2103120"/>
            <a:ext cx="4937760" cy="3657600"/>
          </a:xfrm>
          <a:prstGeom prst="rect">
            <a:avLst/>
          </a:prstGeom>
          <a:noFill/>
          <a:ln/>
        </p:spPr>
        <p:txBody>
          <a:bodyPr wrap="square" rtlCol="0" anchor="t"/>
          <a:lstStyle/>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Lives inside each function call.</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Auto-managed by the compiler.</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Fast (no allocation cost).</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Limited (~ 1 MB on most platforms).</a:t>
            </a:r>
            <a:r>
              <a:rPr lang="en-US" sz="1300" i="1" dirty="0">
                <a:solidFill>
                  <a:srgbClr val="002060"/>
                </a:solidFill>
                <a:latin typeface="Courier New" pitchFamily="34" charset="0"/>
                <a:ea typeface="Courier New" pitchFamily="34" charset="-122"/>
                <a:cs typeface="Courier New" pitchFamily="34" charset="-120"/>
              </a:rPr>
              <a:t>int x; std::string s; — stack.</a:t>
            </a:r>
            <a:endParaRPr lang="en-US" sz="1400" dirty="0"/>
          </a:p>
        </p:txBody>
      </p:sp>
      <p:sp>
        <p:nvSpPr>
          <p:cNvPr id="8" name="Shape 6"/>
          <p:cNvSpPr/>
          <p:nvPr/>
        </p:nvSpPr>
        <p:spPr>
          <a:xfrm>
            <a:off x="6217920" y="1463040"/>
            <a:ext cx="5486400" cy="4389120"/>
          </a:xfrm>
          <a:prstGeom prst="rect">
            <a:avLst/>
          </a:prstGeom>
          <a:solidFill>
            <a:srgbClr val="FBE9D8"/>
          </a:solidFill>
          <a:ln w="12700">
            <a:solidFill>
              <a:srgbClr val="C00000"/>
            </a:solidFill>
            <a:prstDash val="solid"/>
          </a:ln>
        </p:spPr>
        <p:txBody>
          <a:bodyPr/>
          <a:lstStyle/>
          <a:p>
            <a:endParaRPr lang="en-US"/>
          </a:p>
        </p:txBody>
      </p:sp>
      <p:sp>
        <p:nvSpPr>
          <p:cNvPr id="9" name="Text 7"/>
          <p:cNvSpPr/>
          <p:nvPr/>
        </p:nvSpPr>
        <p:spPr>
          <a:xfrm>
            <a:off x="6217920" y="1554480"/>
            <a:ext cx="5486400" cy="457200"/>
          </a:xfrm>
          <a:prstGeom prst="rect">
            <a:avLst/>
          </a:prstGeom>
          <a:noFill/>
          <a:ln/>
        </p:spPr>
        <p:txBody>
          <a:bodyPr wrap="square" rtlCol="0" anchor="ctr"/>
          <a:lstStyle/>
          <a:p>
            <a:pPr marL="0" indent="0" algn="ctr">
              <a:buNone/>
            </a:pPr>
            <a:r>
              <a:rPr lang="en-US" sz="2200" b="1" dirty="0">
                <a:solidFill>
                  <a:srgbClr val="C00000"/>
                </a:solidFill>
                <a:latin typeface="Calibri" pitchFamily="34" charset="0"/>
                <a:ea typeface="Calibri" pitchFamily="34" charset="-122"/>
                <a:cs typeface="Calibri" pitchFamily="34" charset="-120"/>
              </a:rPr>
              <a:t>HEAP</a:t>
            </a:r>
            <a:endParaRPr lang="en-US" sz="2200" dirty="0"/>
          </a:p>
        </p:txBody>
      </p:sp>
      <p:sp>
        <p:nvSpPr>
          <p:cNvPr id="10" name="Text 8"/>
          <p:cNvSpPr/>
          <p:nvPr/>
        </p:nvSpPr>
        <p:spPr>
          <a:xfrm>
            <a:off x="6492240" y="2103120"/>
            <a:ext cx="4937760" cy="3657600"/>
          </a:xfrm>
          <a:prstGeom prst="rect">
            <a:avLst/>
          </a:prstGeom>
          <a:noFill/>
          <a:ln/>
        </p:spPr>
        <p:txBody>
          <a:bodyPr wrap="square" rtlCol="0" anchor="t"/>
          <a:lstStyle/>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A pool of memory you ask for at runtime.</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Allocated with new, freed with delete.</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Slower per allocation; large.</a:t>
            </a:r>
            <a:endParaRPr lang="en-US" sz="1400" dirty="0"/>
          </a:p>
          <a:p>
            <a:pPr marL="342900" indent="-342900">
              <a:spcAft>
                <a:spcPts val="600"/>
              </a:spcAft>
              <a:buSzPct val="100000"/>
              <a:buChar char="■"/>
            </a:pPr>
            <a:r>
              <a:rPr lang="en-US" sz="1400" dirty="0">
                <a:solidFill>
                  <a:srgbClr val="404040"/>
                </a:solidFill>
                <a:latin typeface="Calibri" pitchFamily="34" charset="0"/>
                <a:ea typeface="Calibri" pitchFamily="34" charset="-122"/>
                <a:cs typeface="Calibri" pitchFamily="34" charset="-120"/>
              </a:rPr>
              <a:t>You own the lifetime — easy to leak.</a:t>
            </a:r>
            <a:r>
              <a:rPr lang="en-US" sz="1300" i="1" dirty="0">
                <a:solidFill>
                  <a:srgbClr val="C00000"/>
                </a:solidFill>
                <a:latin typeface="Courier New" pitchFamily="34" charset="0"/>
                <a:ea typeface="Courier New" pitchFamily="34" charset="-122"/>
                <a:cs typeface="Courier New" pitchFamily="34" charset="-120"/>
              </a:rPr>
              <a:t>int* p = new int(7); ... delete p;</a:t>
            </a:r>
            <a:endParaRPr lang="en-US" sz="1400" dirty="0"/>
          </a:p>
        </p:txBody>
      </p:sp>
      <p:sp>
        <p:nvSpPr>
          <p:cNvPr id="11" name="Shape 9"/>
          <p:cNvSpPr/>
          <p:nvPr/>
        </p:nvSpPr>
        <p:spPr>
          <a:xfrm>
            <a:off x="8686800" y="5989320"/>
            <a:ext cx="3200400" cy="365760"/>
          </a:xfrm>
          <a:prstGeom prst="rect">
            <a:avLst/>
          </a:prstGeom>
          <a:solidFill>
            <a:srgbClr val="FFF4DC"/>
          </a:solidFill>
          <a:ln w="9525">
            <a:solidFill>
              <a:srgbClr val="C99B2D"/>
            </a:solidFill>
            <a:prstDash val="solid"/>
          </a:ln>
        </p:spPr>
        <p:txBody>
          <a:bodyPr/>
          <a:lstStyle/>
          <a:p>
            <a:endParaRPr lang="en-US"/>
          </a:p>
        </p:txBody>
      </p:sp>
      <p:sp>
        <p:nvSpPr>
          <p:cNvPr id="12" name="Text 10"/>
          <p:cNvSpPr/>
          <p:nvPr/>
        </p:nvSpPr>
        <p:spPr>
          <a:xfrm>
            <a:off x="8686800" y="5989320"/>
            <a:ext cx="3200400" cy="365760"/>
          </a:xfrm>
          <a:prstGeom prst="rect">
            <a:avLst/>
          </a:prstGeom>
          <a:noFill/>
          <a:ln/>
        </p:spPr>
        <p:txBody>
          <a:bodyPr wrap="square" rtlCol="0" anchor="ctr"/>
          <a:lstStyle/>
          <a:p>
            <a:pPr marL="0" indent="0" algn="ctr">
              <a:buNone/>
            </a:pPr>
            <a:r>
              <a:rPr lang="en-US" sz="1100" b="1" dirty="0">
                <a:solidFill>
                  <a:srgbClr val="6B4D1B"/>
                </a:solidFill>
                <a:latin typeface="Calibri" pitchFamily="34" charset="0"/>
                <a:ea typeface="Calibri" pitchFamily="34" charset="-122"/>
                <a:cs typeface="Calibri" pitchFamily="34" charset="-120"/>
              </a:rPr>
              <a:t>Live demo  ·  LiveCodingWeek1.txt  §16</a:t>
            </a:r>
            <a:endParaRPr lang="en-US" sz="11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4572000" cy="6446520"/>
          </a:xfrm>
          <a:prstGeom prst="rect">
            <a:avLst/>
          </a:prstGeom>
          <a:solidFill>
            <a:srgbClr val="002060"/>
          </a:solidFill>
          <a:ln/>
        </p:spPr>
        <p:txBody>
          <a:bodyPr/>
          <a:lstStyle/>
          <a:p>
            <a:endParaRPr lang="en-US"/>
          </a:p>
        </p:txBody>
      </p:sp>
      <p:sp>
        <p:nvSpPr>
          <p:cNvPr id="3" name="Text 1"/>
          <p:cNvSpPr/>
          <p:nvPr/>
        </p:nvSpPr>
        <p:spPr>
          <a:xfrm>
            <a:off x="548640" y="2194560"/>
            <a:ext cx="3657600" cy="45720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SECTION 4</a:t>
            </a:r>
            <a:endParaRPr lang="en-US" sz="1400" dirty="0"/>
          </a:p>
        </p:txBody>
      </p:sp>
      <p:sp>
        <p:nvSpPr>
          <p:cNvPr id="4" name="Text 2"/>
          <p:cNvSpPr/>
          <p:nvPr/>
        </p:nvSpPr>
        <p:spPr>
          <a:xfrm>
            <a:off x="548640" y="2697480"/>
            <a:ext cx="3657600" cy="1463040"/>
          </a:xfrm>
          <a:prstGeom prst="rect">
            <a:avLst/>
          </a:prstGeom>
          <a:noFill/>
          <a:ln/>
        </p:spPr>
        <p:txBody>
          <a:bodyPr wrap="square"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Lab — your first OOP345 build</a:t>
            </a:r>
            <a:endParaRPr lang="en-US" sz="3000" dirty="0"/>
          </a:p>
        </p:txBody>
      </p:sp>
      <p:sp>
        <p:nvSpPr>
          <p:cNvPr id="5" name="Text 3"/>
          <p:cNvSpPr/>
          <p:nvPr/>
        </p:nvSpPr>
        <p:spPr>
          <a:xfrm>
            <a:off x="5120640" y="2468880"/>
            <a:ext cx="6583680" cy="2194560"/>
          </a:xfrm>
          <a:prstGeom prst="rect">
            <a:avLst/>
          </a:prstGeom>
          <a:noFill/>
          <a:ln/>
        </p:spPr>
        <p:txBody>
          <a:bodyPr wrap="square" rtlCol="0" anchor="t"/>
          <a:lstStyle/>
          <a:p>
            <a:pPr marL="0" indent="0">
              <a:buNone/>
            </a:pPr>
            <a:r>
              <a:rPr lang="en-US" sz="1800" dirty="0">
                <a:solidFill>
                  <a:srgbClr val="404040"/>
                </a:solidFill>
                <a:latin typeface="Calibri" pitchFamily="34" charset="0"/>
                <a:ea typeface="Calibri" pitchFamily="34" charset="-122"/>
                <a:cs typeface="Calibri" pitchFamily="34" charset="-120"/>
              </a:rPr>
              <a:t>~ 1 hour · I stay on the call · ask questions in voice or in chat. Submit by 10:30 PM.</a:t>
            </a:r>
            <a:endParaRPr lang="en-US" sz="1800" dirty="0"/>
          </a:p>
        </p:txBody>
      </p:sp>
      <p:sp>
        <p:nvSpPr>
          <p:cNvPr id="6" name="Shape 4"/>
          <p:cNvSpPr/>
          <p:nvPr/>
        </p:nvSpPr>
        <p:spPr>
          <a:xfrm>
            <a:off x="5120640" y="2194560"/>
            <a:ext cx="548640" cy="73152"/>
          </a:xfrm>
          <a:prstGeom prst="rect">
            <a:avLst/>
          </a:prstGeom>
          <a:solidFill>
            <a:srgbClr val="C00000"/>
          </a:solidFill>
          <a:ln/>
        </p:spPr>
        <p:txBody>
          <a:bodyPr/>
          <a:lstStyle/>
          <a:p>
            <a:endParaRPr lang="en-US"/>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4D7A"/>
          </a:solidFill>
          <a:ln/>
        </p:spPr>
        <p:txBody>
          <a:bodyPr/>
          <a:lstStyle/>
          <a:p>
            <a:endParaRPr lang="en-US"/>
          </a:p>
        </p:txBody>
      </p:sp>
      <p:sp>
        <p:nvSpPr>
          <p:cNvPr id="3" name="Text 1"/>
          <p:cNvSpPr/>
          <p:nvPr/>
        </p:nvSpPr>
        <p:spPr>
          <a:xfrm>
            <a:off x="457200" y="137160"/>
            <a:ext cx="5486400" cy="32004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LAB · WEEK 1</a:t>
            </a:r>
            <a:endParaRPr lang="en-US" sz="1400" dirty="0"/>
          </a:p>
        </p:txBody>
      </p:sp>
      <p:sp>
        <p:nvSpPr>
          <p:cNvPr id="4" name="Text 2"/>
          <p:cNvSpPr/>
          <p:nvPr/>
        </p:nvSpPr>
        <p:spPr>
          <a:xfrm>
            <a:off x="457200" y="411480"/>
            <a:ext cx="1124712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Lab 1 — Build, run, and inspect a tiny C++ program</a:t>
            </a:r>
            <a:endParaRPr lang="en-US" sz="2600" dirty="0"/>
          </a:p>
        </p:txBody>
      </p:sp>
      <p:sp>
        <p:nvSpPr>
          <p:cNvPr id="5" name="Text 3"/>
          <p:cNvSpPr/>
          <p:nvPr/>
        </p:nvSpPr>
        <p:spPr>
          <a:xfrm>
            <a:off x="457200" y="1143000"/>
            <a:ext cx="11247120" cy="594360"/>
          </a:xfrm>
          <a:prstGeom prst="rect">
            <a:avLst/>
          </a:prstGeom>
          <a:noFill/>
          <a:ln/>
        </p:spPr>
        <p:txBody>
          <a:bodyPr wrap="square" rtlCol="0" anchor="ctr"/>
          <a:lstStyle/>
          <a:p>
            <a:pPr marL="0" indent="0">
              <a:buNone/>
            </a:pPr>
            <a:r>
              <a:rPr lang="en-US" sz="1600" i="1" dirty="0">
                <a:solidFill>
                  <a:srgbClr val="595959"/>
                </a:solidFill>
                <a:latin typeface="Calibri" pitchFamily="34" charset="0"/>
                <a:ea typeface="Calibri" pitchFamily="34" charset="-122"/>
                <a:cs typeface="Calibri" pitchFamily="34" charset="-120"/>
              </a:rPr>
              <a:t>Set up your toolchain, compile a multi-file program, observe each compilation stage, and play with pointers.</a:t>
            </a:r>
            <a:endParaRPr lang="en-US" sz="1600" dirty="0"/>
          </a:p>
        </p:txBody>
      </p:sp>
      <p:sp>
        <p:nvSpPr>
          <p:cNvPr id="6" name="Text 4"/>
          <p:cNvSpPr/>
          <p:nvPr/>
        </p:nvSpPr>
        <p:spPr>
          <a:xfrm>
            <a:off x="457200" y="1828800"/>
            <a:ext cx="6858000" cy="320040"/>
          </a:xfrm>
          <a:prstGeom prst="rect">
            <a:avLst/>
          </a:prstGeom>
          <a:noFill/>
          <a:ln/>
        </p:spPr>
        <p:txBody>
          <a:bodyPr wrap="square" rtlCol="0" anchor="ctr"/>
          <a:lstStyle/>
          <a:p>
            <a:pPr marL="0" indent="0">
              <a:buNone/>
            </a:pPr>
            <a:r>
              <a:rPr lang="en-US" sz="1300" b="1" kern="0" spc="300" dirty="0">
                <a:solidFill>
                  <a:srgbClr val="C00000"/>
                </a:solidFill>
                <a:latin typeface="Calibri" pitchFamily="34" charset="0"/>
                <a:ea typeface="Calibri" pitchFamily="34" charset="-122"/>
                <a:cs typeface="Calibri" pitchFamily="34" charset="-120"/>
              </a:rPr>
              <a:t>YOUR TASKS (≈ 1 hr 20 min)</a:t>
            </a:r>
            <a:endParaRPr lang="en-US" sz="1300" dirty="0"/>
          </a:p>
        </p:txBody>
      </p:sp>
      <p:sp>
        <p:nvSpPr>
          <p:cNvPr id="7" name="Text 5"/>
          <p:cNvSpPr/>
          <p:nvPr/>
        </p:nvSpPr>
        <p:spPr>
          <a:xfrm>
            <a:off x="457200" y="2194560"/>
            <a:ext cx="6858000" cy="3840480"/>
          </a:xfrm>
          <a:prstGeom prst="rect">
            <a:avLst/>
          </a:prstGeom>
          <a:noFill/>
          <a:ln/>
        </p:spPr>
        <p:txBody>
          <a:bodyPr wrap="square" rtlCol="0" anchor="t"/>
          <a:lstStyle/>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1. Install your compiler &amp; IDE — VS Code with C/C++ pack, or Visual Studio 2022 Community.</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2. Clone the lab1 starter repo from LEARN. Open the folder.</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3. Compile main.cpp + utils.cpp into a single executable from the command line. Capture the exact command.</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4. Run the program and paste its output into lab1.md.</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5. Edit utils.cpp — change the message — then recompile only utils.cpp + relink. Time the difference.</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6. Use sizeof to print the size of int, long long, double, and a pointer. Record the values.</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7. Add a pointer-arithmetic loop that prints the elements of an int array using *(p+i).</a:t>
            </a:r>
            <a:endParaRPr lang="en-US" sz="1600" dirty="0"/>
          </a:p>
          <a:p>
            <a:pPr marL="0" indent="0">
              <a:spcAft>
                <a:spcPts val="600"/>
              </a:spcAft>
              <a:buNone/>
            </a:pPr>
            <a:r>
              <a:rPr lang="en-US" sz="1600" dirty="0">
                <a:solidFill>
                  <a:srgbClr val="404040"/>
                </a:solidFill>
                <a:latin typeface="Calibri" pitchFamily="34" charset="0"/>
                <a:ea typeface="Calibri" pitchFamily="34" charset="-122"/>
                <a:cs typeface="Calibri" pitchFamily="34" charset="-120"/>
              </a:rPr>
              <a:t>8. Answer four reflection questions in lab1.md (one or two sentences each).</a:t>
            </a:r>
            <a:endParaRPr lang="en-US" sz="1600" dirty="0"/>
          </a:p>
        </p:txBody>
      </p:sp>
      <p:sp>
        <p:nvSpPr>
          <p:cNvPr id="8" name="Shape 6"/>
          <p:cNvSpPr/>
          <p:nvPr/>
        </p:nvSpPr>
        <p:spPr>
          <a:xfrm>
            <a:off x="7680960" y="1828800"/>
            <a:ext cx="4114800" cy="4206240"/>
          </a:xfrm>
          <a:prstGeom prst="rect">
            <a:avLst/>
          </a:prstGeom>
          <a:solidFill>
            <a:srgbClr val="F0F6FA"/>
          </a:solidFill>
          <a:ln w="12700">
            <a:solidFill>
              <a:srgbClr val="0F4D7A"/>
            </a:solidFill>
            <a:prstDash val="solid"/>
          </a:ln>
        </p:spPr>
        <p:txBody>
          <a:bodyPr/>
          <a:lstStyle/>
          <a:p>
            <a:endParaRPr lang="en-US"/>
          </a:p>
        </p:txBody>
      </p:sp>
      <p:sp>
        <p:nvSpPr>
          <p:cNvPr id="9" name="Text 7"/>
          <p:cNvSpPr/>
          <p:nvPr/>
        </p:nvSpPr>
        <p:spPr>
          <a:xfrm>
            <a:off x="7863840" y="1965960"/>
            <a:ext cx="3749040" cy="274320"/>
          </a:xfrm>
          <a:prstGeom prst="rect">
            <a:avLst/>
          </a:prstGeom>
          <a:noFill/>
          <a:ln/>
        </p:spPr>
        <p:txBody>
          <a:bodyPr wrap="square" rtlCol="0" anchor="ctr"/>
          <a:lstStyle/>
          <a:p>
            <a:pPr marL="0" indent="0">
              <a:buNone/>
            </a:pPr>
            <a:r>
              <a:rPr lang="en-US" sz="1200" b="1" kern="0" spc="300" dirty="0">
                <a:solidFill>
                  <a:srgbClr val="0F4D7A"/>
                </a:solidFill>
                <a:latin typeface="Calibri" pitchFamily="34" charset="0"/>
                <a:ea typeface="Calibri" pitchFamily="34" charset="-122"/>
                <a:cs typeface="Calibri" pitchFamily="34" charset="-120"/>
              </a:rPr>
              <a:t>DELIVERABLES</a:t>
            </a:r>
            <a:endParaRPr lang="en-US" sz="1200" dirty="0"/>
          </a:p>
        </p:txBody>
      </p:sp>
      <p:sp>
        <p:nvSpPr>
          <p:cNvPr id="10" name="Text 8"/>
          <p:cNvSpPr/>
          <p:nvPr/>
        </p:nvSpPr>
        <p:spPr>
          <a:xfrm>
            <a:off x="7863840" y="2286000"/>
            <a:ext cx="3749040" cy="3657600"/>
          </a:xfrm>
          <a:prstGeom prst="rect">
            <a:avLst/>
          </a:prstGeom>
          <a:noFill/>
          <a:ln/>
        </p:spPr>
        <p:txBody>
          <a:bodyPr wrap="square" rtlCol="0" anchor="t"/>
          <a:lstStyle/>
          <a:p>
            <a:pPr>
              <a:spcAft>
                <a:spcPts val="600"/>
              </a:spcAft>
            </a:pPr>
            <a:r>
              <a:rPr lang="en-US" sz="1400" dirty="0">
                <a:solidFill>
                  <a:srgbClr val="404040"/>
                </a:solidFill>
                <a:latin typeface="Calibri" pitchFamily="34" charset="0"/>
                <a:ea typeface="Calibri" pitchFamily="34" charset="-122"/>
                <a:cs typeface="Calibri" pitchFamily="34" charset="-120"/>
              </a:rPr>
              <a:t>lab1.md — committed to your repo</a:t>
            </a:r>
            <a:endParaRPr lang="en-US" sz="1400" dirty="0"/>
          </a:p>
          <a:p>
            <a:pPr>
              <a:spcAft>
                <a:spcPts val="600"/>
              </a:spcAft>
            </a:pPr>
            <a:r>
              <a:rPr lang="en-US" sz="1400" dirty="0">
                <a:solidFill>
                  <a:srgbClr val="404040"/>
                </a:solidFill>
                <a:latin typeface="Calibri" pitchFamily="34" charset="0"/>
                <a:ea typeface="Calibri" pitchFamily="34" charset="-122"/>
                <a:cs typeface="Calibri" pitchFamily="34" charset="-120"/>
              </a:rPr>
              <a:t>Screenshot of program output</a:t>
            </a:r>
            <a:endParaRPr lang="en-US" sz="1400" dirty="0"/>
          </a:p>
          <a:p>
            <a:pPr>
              <a:spcAft>
                <a:spcPts val="600"/>
              </a:spcAft>
            </a:pPr>
            <a:r>
              <a:rPr lang="en-US" sz="1400" dirty="0">
                <a:solidFill>
                  <a:srgbClr val="404040"/>
                </a:solidFill>
                <a:latin typeface="Calibri" pitchFamily="34" charset="0"/>
                <a:ea typeface="Calibri" pitchFamily="34" charset="-122"/>
                <a:cs typeface="Calibri" pitchFamily="34" charset="-120"/>
              </a:rPr>
              <a:t>Your exact compile commands</a:t>
            </a:r>
            <a:endParaRPr lang="en-US" sz="1400" dirty="0"/>
          </a:p>
          <a:p>
            <a:pPr>
              <a:spcAft>
                <a:spcPts val="600"/>
              </a:spcAft>
            </a:pPr>
            <a:r>
              <a:rPr lang="en-US" sz="1400" dirty="0">
                <a:solidFill>
                  <a:srgbClr val="404040"/>
                </a:solidFill>
                <a:latin typeface="Calibri" pitchFamily="34" charset="0"/>
                <a:ea typeface="Calibri" pitchFamily="34" charset="-122"/>
                <a:cs typeface="Calibri" pitchFamily="34" charset="-120"/>
              </a:rPr>
              <a:t>Push to GitHub by 10:30 PM</a:t>
            </a:r>
            <a:endParaRPr lang="en-US" sz="1400" dirty="0"/>
          </a:p>
          <a:p>
            <a:pPr>
              <a:spcAft>
                <a:spcPts val="600"/>
              </a:spcAft>
            </a:pPr>
            <a:r>
              <a:rPr lang="en-US" sz="1400" dirty="0">
                <a:solidFill>
                  <a:srgbClr val="404040"/>
                </a:solidFill>
                <a:latin typeface="Calibri" pitchFamily="34" charset="0"/>
                <a:ea typeface="Calibri" pitchFamily="34" charset="-122"/>
                <a:cs typeface="Calibri" pitchFamily="34" charset="-120"/>
              </a:rPr>
              <a:t>Submit the repo link on LEARN</a:t>
            </a:r>
            <a:endParaRPr lang="en-US" sz="14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11247120" cy="640080"/>
          </a:xfrm>
          <a:prstGeom prst="rect">
            <a:avLst/>
          </a:prstGeom>
          <a:noFill/>
          <a:ln/>
        </p:spPr>
        <p:txBody>
          <a:bodyPr wrap="square" rtlCol="0" anchor="ctr"/>
          <a:lstStyle/>
          <a:p>
            <a:pPr marL="0" indent="0">
              <a:buNone/>
            </a:pPr>
            <a:r>
              <a:rPr lang="en-US" sz="3000" b="1" dirty="0">
                <a:solidFill>
                  <a:srgbClr val="C00000"/>
                </a:solidFill>
                <a:latin typeface="Calibri" pitchFamily="34" charset="0"/>
                <a:ea typeface="Calibri" pitchFamily="34" charset="-122"/>
                <a:cs typeface="Calibri" pitchFamily="34" charset="-120"/>
              </a:rPr>
              <a:t>Week 1 · Wrap-Up</a:t>
            </a:r>
            <a:endParaRPr lang="en-US" sz="3000" dirty="0"/>
          </a:p>
        </p:txBody>
      </p:sp>
      <p:sp>
        <p:nvSpPr>
          <p:cNvPr id="3" name="Text 1"/>
          <p:cNvSpPr/>
          <p:nvPr/>
        </p:nvSpPr>
        <p:spPr>
          <a:xfrm>
            <a:off x="640080" y="1280160"/>
            <a:ext cx="5486400" cy="365760"/>
          </a:xfrm>
          <a:prstGeom prst="rect">
            <a:avLst/>
          </a:prstGeom>
          <a:noFill/>
          <a:ln/>
        </p:spPr>
        <p:txBody>
          <a:bodyPr wrap="square"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What we covered today</a:t>
            </a:r>
            <a:endParaRPr lang="en-US" sz="1600" dirty="0"/>
          </a:p>
        </p:txBody>
      </p:sp>
      <p:sp>
        <p:nvSpPr>
          <p:cNvPr id="4" name="Text 2"/>
          <p:cNvSpPr/>
          <p:nvPr/>
        </p:nvSpPr>
        <p:spPr>
          <a:xfrm>
            <a:off x="640080" y="1691640"/>
            <a:ext cx="5486400" cy="4389120"/>
          </a:xfrm>
          <a:prstGeom prst="rect">
            <a:avLst/>
          </a:prstGeom>
          <a:noFill/>
          <a:ln/>
        </p:spPr>
        <p:txBody>
          <a:bodyPr wrap="square" rtlCol="0" anchor="t"/>
          <a:lstStyle/>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How OOP345 runs · evaluation · the 4-assignment project arc</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C++ as a multi-paradigm, statically-typed, compiled language</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The 5-stage compilation pipeline</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Anatomy of a C++ program · headers, include guards</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Fundamental types · sizeof · initialization styles</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const, auto, decltype</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References, pointers, pointer arithmetic</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Arrays vs pointers · stack vs heap preview</a:t>
            </a:r>
            <a:endParaRPr lang="en-US" sz="1500" dirty="0"/>
          </a:p>
        </p:txBody>
      </p:sp>
      <p:sp>
        <p:nvSpPr>
          <p:cNvPr id="5" name="Shape 3"/>
          <p:cNvSpPr/>
          <p:nvPr/>
        </p:nvSpPr>
        <p:spPr>
          <a:xfrm>
            <a:off x="6400800" y="1280160"/>
            <a:ext cx="5303520" cy="4846320"/>
          </a:xfrm>
          <a:prstGeom prst="rect">
            <a:avLst/>
          </a:prstGeom>
          <a:solidFill>
            <a:srgbClr val="F4F0E8"/>
          </a:solidFill>
          <a:ln w="12700">
            <a:solidFill>
              <a:srgbClr val="C99B2D"/>
            </a:solidFill>
            <a:prstDash val="solid"/>
          </a:ln>
        </p:spPr>
        <p:txBody>
          <a:bodyPr/>
          <a:lstStyle/>
          <a:p>
            <a:endParaRPr lang="en-US"/>
          </a:p>
        </p:txBody>
      </p:sp>
      <p:sp>
        <p:nvSpPr>
          <p:cNvPr id="6" name="Text 4"/>
          <p:cNvSpPr/>
          <p:nvPr/>
        </p:nvSpPr>
        <p:spPr>
          <a:xfrm>
            <a:off x="6583680" y="1417320"/>
            <a:ext cx="4937760" cy="365760"/>
          </a:xfrm>
          <a:prstGeom prst="rect">
            <a:avLst/>
          </a:prstGeom>
          <a:noFill/>
          <a:ln/>
        </p:spPr>
        <p:txBody>
          <a:bodyPr wrap="square" rtlCol="0" anchor="ctr"/>
          <a:lstStyle/>
          <a:p>
            <a:pPr marL="0" indent="0">
              <a:buNone/>
            </a:pPr>
            <a:r>
              <a:rPr lang="en-US" sz="1600" b="1" kern="0" spc="200" dirty="0">
                <a:solidFill>
                  <a:srgbClr val="C99B2D"/>
                </a:solidFill>
                <a:latin typeface="Calibri" pitchFamily="34" charset="0"/>
                <a:ea typeface="Calibri" pitchFamily="34" charset="-122"/>
                <a:cs typeface="Calibri" pitchFamily="34" charset="-120"/>
              </a:rPr>
              <a:t>Next week — Week 2</a:t>
            </a:r>
            <a:endParaRPr lang="en-US" sz="1600" dirty="0"/>
          </a:p>
        </p:txBody>
      </p:sp>
      <p:sp>
        <p:nvSpPr>
          <p:cNvPr id="7" name="Text 5"/>
          <p:cNvSpPr/>
          <p:nvPr/>
        </p:nvSpPr>
        <p:spPr>
          <a:xfrm>
            <a:off x="6583680" y="1828800"/>
            <a:ext cx="4937760" cy="4114800"/>
          </a:xfrm>
          <a:prstGeom prst="rect">
            <a:avLst/>
          </a:prstGeom>
          <a:noFill/>
          <a:ln/>
        </p:spPr>
        <p:txBody>
          <a:bodyPr wrap="square" rtlCol="0" anchor="t"/>
          <a:lstStyle/>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Classes &amp; scoped enumerations</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Dynamic memory: new, delete, the Rule of Three</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Compositions, aggregations &amp; associations</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Object-oriented design concepts</a:t>
            </a:r>
            <a:endParaRPr lang="en-US" sz="1500" dirty="0"/>
          </a:p>
          <a:p>
            <a:pPr marL="342900" indent="-342900">
              <a:spcAft>
                <a:spcPts val="600"/>
              </a:spcAft>
              <a:buSzPct val="100000"/>
              <a:buChar char="▶"/>
            </a:pPr>
            <a:r>
              <a:rPr lang="en-US" sz="1500" dirty="0">
                <a:solidFill>
                  <a:srgbClr val="404040"/>
                </a:solidFill>
                <a:latin typeface="Calibri" pitchFamily="34" charset="0"/>
                <a:ea typeface="Calibri" pitchFamily="34" charset="-122"/>
                <a:cs typeface="Calibri" pitchFamily="34" charset="-120"/>
              </a:rPr>
              <a:t>Lab 2 builds your first heap-owning class</a:t>
            </a:r>
            <a:endParaRPr lang="en-US" sz="1500" dirty="0"/>
          </a:p>
        </p:txBody>
      </p:sp>
      <p:sp>
        <p:nvSpPr>
          <p:cNvPr id="25" name="Slide Number Placeholder 0"/>
          <p:cNvSpPr>
            <a:spLocks noGrp="1"/>
          </p:cNvSpPr>
          <p:nvPr>
            <p:ph type="sldNum" sz="quarter" idx="4294967295"/>
          </p:nvPr>
        </p:nvSpPr>
        <p:spPr>
          <a:xfrm>
            <a:off x="11475720" y="6519672"/>
            <a:ext cx="548640"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4997</Words>
  <Application>Microsoft Macintosh PowerPoint</Application>
  <PresentationFormat>Custom</PresentationFormat>
  <Paragraphs>605</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Seneca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OOP345 Week 1</dc:title>
  <dc:subject>Week 1 — Course intro &amp; C++ foundations</dc:subject>
  <dc:creator>Adeel Javed</dc:creator>
  <cp:lastModifiedBy>Shamar Harmon</cp:lastModifiedBy>
  <cp:revision>2</cp:revision>
  <dcterms:created xsi:type="dcterms:W3CDTF">2026-05-12T02:39:40Z</dcterms:created>
  <dcterms:modified xsi:type="dcterms:W3CDTF">2026-05-15T07:45:15Z</dcterms:modified>
</cp:coreProperties>
</file>